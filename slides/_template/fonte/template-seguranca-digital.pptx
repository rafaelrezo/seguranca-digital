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com a evidência, não com definições. Pergunte o que os estudantes observam e qual hipótese explicaria o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60 segundos para leitura silenciosa e depois peça uma dúvida por dupla.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confirme respostas imediatamente. Colete hipóteses concorrentes no quadro.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Aceite mais de uma resposta quando as premissas forem explícitas. Registre o critério decisivo.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ambiente falhar, use capturas ou PCAP previamente validados. Não improvise em alvo externo.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C1B7"/>
          </a:solidFill>
          <a:ln w="12700">
            <a:solidFill>
              <a:srgbClr val="16C1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6C1B7"/>
                </a:solidFill>
              </a:rPr>
              <a:t>Axx  •  UNIDADE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Título orientado ao problema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F5"/>
                </a:solidFill>
              </a:rPr>
              <a:t>Uma pergunta que conecta evidência, processo e decisão de engenharia.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75320" y="1143000"/>
            <a:ext cx="2834640" cy="2834640"/>
          </a:xfrm>
          <a:prstGeom prst="roundRect">
            <a:avLst>
              <a:gd name="adj" fmla="val 2581"/>
            </a:avLst>
          </a:prstGeom>
          <a:solidFill>
            <a:srgbClr val="173F5F">
              <a:alpha val="95000"/>
            </a:srgbClr>
          </a:solidFill>
          <a:ln w="25400">
            <a:solidFill>
              <a:srgbClr val="16C1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EVIDÊNCIA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INICIAL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5989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E0"/>
                </a:solidFill>
              </a:rPr>
              <a:t>2 × 52 min  •  teoria + prática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CENÁRIO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Você está na sala de controle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Apresente atores, sistema, restrições e consequência operacional.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01568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3401568" cy="109728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7860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O que aconteceu?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880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D"/>
                </a:solidFill>
              </a:rPr>
              <a:t>Substitua por fatos curtos do cenário. Não antecipe a solução.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3401568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240280"/>
            <a:ext cx="3401568" cy="10972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57860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O que está em risco?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2880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D"/>
                </a:solidFill>
              </a:rPr>
              <a:t>Substitua por fatos curtos do cenário. Não antecipe a solução.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2240280"/>
            <a:ext cx="3401568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240280"/>
            <a:ext cx="3401568" cy="109728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57860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Que decisão é necessária?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58200" y="3246120"/>
            <a:ext cx="28803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4D"/>
                </a:solidFill>
              </a:rPr>
              <a:t>Substitua por fatos curtos do cenário. Não antecipe a solução.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OBSERVE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O que esta evidência permite afirmar?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Separar observação de inferência antes de apresentar o conceito.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6629400" cy="3337560"/>
          </a:xfrm>
          <a:prstGeom prst="roundRect">
            <a:avLst/>
          </a:prstGeom>
          <a:solidFill>
            <a:srgbClr val="EAF1F8"/>
          </a:solidFill>
          <a:ln w="1905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429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5758B"/>
                </a:solidFill>
              </a:rPr>
              <a:t>CAPTURA • LOG • DIAGRAMA • PACOTE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55280" y="2240280"/>
            <a:ext cx="411480" cy="411480"/>
          </a:xfrm>
          <a:prstGeom prst="rect">
            <a:avLst/>
          </a:prstGeom>
          <a:solidFill>
            <a:srgbClr val="167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0" y="2240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Anote duas observações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55280" y="3246120"/>
            <a:ext cx="411480" cy="411480"/>
          </a:xfrm>
          <a:prstGeom prst="rect">
            <a:avLst/>
          </a:prstGeom>
          <a:solidFill>
            <a:srgbClr val="16C1B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Formule uma hipótese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0" y="4251960"/>
            <a:ext cx="411480" cy="411480"/>
          </a:xfrm>
          <a:prstGeom prst="rect">
            <a:avLst/>
          </a:prstGeom>
          <a:solidFill>
            <a:srgbClr val="FFB02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0" y="42519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Diga o que falta provar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Um mecanismo, três consequências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Explique somente o necessário para interpretar a evidência e agir.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788920" cy="123444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EVIDÊNCIA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251960" y="2514600"/>
            <a:ext cx="2788920" cy="1234440"/>
          </a:xfrm>
          <a:prstGeom prst="roundRect">
            <a:avLst/>
          </a:prstGeom>
          <a:solidFill>
            <a:srgbClr val="16C1B7"/>
          </a:solidFill>
          <a:ln w="12700">
            <a:solidFill>
              <a:srgbClr val="16C1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CONCEITO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18120" y="2514600"/>
            <a:ext cx="2788920" cy="123444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IMPACTO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566160" y="2816352"/>
            <a:ext cx="502920" cy="594360"/>
          </a:xfrm>
          <a:prstGeom prst="chevron">
            <a:avLst/>
          </a:prstGeom>
          <a:solidFill>
            <a:srgbClr val="65758B"/>
          </a:solidFill>
          <a:ln w="12700">
            <a:solidFill>
              <a:srgbClr val="6575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816352"/>
            <a:ext cx="502920" cy="594360"/>
          </a:xfrm>
          <a:prstGeom prst="chevron">
            <a:avLst/>
          </a:prstGeom>
          <a:solidFill>
            <a:srgbClr val="65758B"/>
          </a:solidFill>
          <a:ln w="12700">
            <a:solidFill>
              <a:srgbClr val="6575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4340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Insira abaixo uma definição operacional curta e um exemplo conectado ao cenário.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COMPARE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Escolher controle exige contexto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Use dimensões comuns e termine com uma recomendação condicionada.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8840"/>
          <a:ext cx="10835640" cy="2926080"/>
        </p:xfrm>
        <a:graphic>
          <a:graphicData uri="http://schemas.openxmlformats.org/drawingml/2006/table">
            <a:tbl>
              <a:tblPr/>
              <a:tblGrid>
                <a:gridCol w="2708910"/>
                <a:gridCol w="2708910"/>
                <a:gridCol w="2708910"/>
                <a:gridCol w="270891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OPÇÃO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MELHOR USO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EVIDÊNCIA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LIMITAÇÃO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Controle A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Cenário adequado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Como validar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Trade-off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Controle B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Cenário adequado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Como validar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Trade-off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Controle C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Cenário adequado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Como validar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B4D"/>
                          </a:solidFill>
                        </a:rPr>
                        <a:t>Trade-off</a:t>
                      </a:r>
                      <a:endParaRPr lang="en-US" sz="1400" dirty="0"/>
                    </a:p>
                  </a:txBody>
                  <a:tcPr marL="109728" marR="109728" marT="109728" marB="109728" anchor="mid">
                    <a:lnL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41248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Decisão: se ________, prefira ________ porque ________.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C1B7"/>
                </a:solidFill>
              </a:rPr>
              <a:t>PARE • PENSE • DECIDA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Qual ação reduz o risco sem comprometer o processo?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92608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999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29443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Alternativa A: inclua um trade-off real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16C1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867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3813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Alternativa B: inclua um trade-off real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466344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365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46817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Alternativa C: inclua um trade-off real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5989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E0"/>
                </a:solidFill>
              </a:rPr>
              <a:t>Converse em dupla por 90 segundos. Prepare uma justificativa, não apenas uma letra.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DEMONSTRAÇÃO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Preveja antes de executar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A demonstração precisa de objetivo, critério de sucesso e plano alternativo.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solidFill>
            <a:srgbClr val="167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PREVER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O que esperamos observar?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19456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23160"/>
            <a:ext cx="502920" cy="502920"/>
          </a:xfrm>
          <a:prstGeom prst="rect">
            <a:avLst/>
          </a:prstGeom>
          <a:solidFill>
            <a:srgbClr val="167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75888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EXECUTAR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75888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Uma mudança por vez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2423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423160"/>
            <a:ext cx="502920" cy="502920"/>
          </a:xfrm>
          <a:prstGeom prst="rect">
            <a:avLst/>
          </a:prstGeom>
          <a:solidFill>
            <a:srgbClr val="167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64808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VALIDAR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Que evidência confirma?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0" y="2194560"/>
            <a:ext cx="242316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423160"/>
            <a:ext cx="502920" cy="502920"/>
          </a:xfrm>
          <a:prstGeom prst="rect">
            <a:avLst/>
          </a:prstGeom>
          <a:solidFill>
            <a:srgbClr val="E548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53728" y="3154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REVERTER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53728" y="3749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B4D"/>
                </a:solidFill>
              </a:rPr>
              <a:t>Como voltar ao estado seguro?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PONTE PARA 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Sua missão nos próximos 52 minutos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O PDF contém escopo, etapas, evidências e critérios de entrega.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6812280" cy="3383280"/>
          </a:xfrm>
          <a:prstGeom prst="roundRect">
            <a:avLst/>
          </a:prstGeom>
          <a:solidFill>
            <a:srgbClr val="EAF7F6"/>
          </a:solidFill>
          <a:ln w="25400">
            <a:solidFill>
              <a:srgbClr val="16C1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16C1B7"/>
                </a:solidFill>
              </a:rPr>
              <a:t>MISSÃO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Investigue, decida, intervenha e prove o resultado.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77FF"/>
                </a:solidFill>
              </a:rPr>
              <a:t>ENTREGUE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2834640"/>
            <a:ext cx="28346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1 hipótese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2 evidências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1 decisão justificada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0" y="4709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484D"/>
                </a:solidFill>
              </a:rPr>
              <a:t>Escopo autorizado • dados fictícios • limpeza obrigatória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SÍNTESE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Da evidência à resiliência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Retome o percurso e deixe uma pergunta aberta para transferência.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423160" cy="1051560"/>
          </a:xfrm>
          <a:prstGeom prst="round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61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OBSERVAR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72968" y="2724912"/>
            <a:ext cx="228600" cy="457200"/>
          </a:xfrm>
          <a:prstGeom prst="chevron">
            <a:avLst/>
          </a:prstGeom>
          <a:solidFill>
            <a:srgbClr val="65758B"/>
          </a:solidFill>
          <a:ln w="12700">
            <a:solidFill>
              <a:srgbClr val="6575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423160"/>
            <a:ext cx="2423160" cy="1051560"/>
          </a:xfrm>
          <a:prstGeom prst="roundRect">
            <a:avLst/>
          </a:prstGeom>
          <a:solidFill>
            <a:srgbClr val="16C1B7"/>
          </a:solidFill>
          <a:ln w="12700">
            <a:solidFill>
              <a:srgbClr val="16C1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761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EXPLICAR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61888" y="2724912"/>
            <a:ext cx="228600" cy="457200"/>
          </a:xfrm>
          <a:prstGeom prst="chevron">
            <a:avLst/>
          </a:prstGeom>
          <a:solidFill>
            <a:srgbClr val="65758B"/>
          </a:solidFill>
          <a:ln w="12700">
            <a:solidFill>
              <a:srgbClr val="6575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423160"/>
            <a:ext cx="2423160" cy="1051560"/>
          </a:xfrm>
          <a:prstGeom prst="round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761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AGIR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750808" y="2724912"/>
            <a:ext cx="228600" cy="457200"/>
          </a:xfrm>
          <a:prstGeom prst="chevron">
            <a:avLst/>
          </a:prstGeom>
          <a:solidFill>
            <a:srgbClr val="65758B"/>
          </a:solidFill>
          <a:ln w="12700">
            <a:solidFill>
              <a:srgbClr val="6575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0" y="2423160"/>
            <a:ext cx="2423160" cy="105156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761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43434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Em outro processo industrial, o que mudaria na decisão?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6C1B7"/>
                </a:solidFill>
              </a:rPr>
              <a:t>REFERÊNCIAS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95528"/>
            <a:ext cx="10789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A43"/>
                </a:solidFill>
              </a:rPr>
              <a:t>Continue investigando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179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758B"/>
                </a:solidFill>
              </a:rPr>
              <a:t>A página MkDocs contém a explicação completa; estas fontes servem para aprofundamento.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C1B7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029968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NIST / CISA — publicação oficial e versão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C1B7"/>
                </a:solidFill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990088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OWASP / MITRE — projeto e edição vigente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C1B7"/>
                </a:solidFill>
              </a:rPr>
              <a:t>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950208"/>
            <a:ext cx="9464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B4D"/>
                </a:solidFill>
              </a:rPr>
              <a:t>Documentação oficial da ferramenta utilizada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5257800"/>
            <a:ext cx="10332720" cy="594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544982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Próximo passo  →  abra o roteiro da prática no Google Classroom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471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Axx  •  Segurança Digital para Controle e Automação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21040" y="6547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5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inserir referência curta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IFES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— Segurança Digital TI/OT</dc:title>
  <dc:subject>Template de aula para Engenharia de Controle e Automação</dc:subject>
  <dc:creator>Curso de Segurança Digital</dc:creator>
  <cp:lastModifiedBy>Curso de Segurança Digital</cp:lastModifiedBy>
  <cp:revision>1</cp:revision>
  <dcterms:created xsi:type="dcterms:W3CDTF">2026-08-04T23:16:42Z</dcterms:created>
  <dcterms:modified xsi:type="dcterms:W3CDTF">2026-08-04T23:16:42Z</dcterms:modified>
</cp:coreProperties>
</file>
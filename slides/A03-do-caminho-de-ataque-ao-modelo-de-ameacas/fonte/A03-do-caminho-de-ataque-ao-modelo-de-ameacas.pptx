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Retome o inventário da A02. Colete duas observações e uma hipótese. Não aceite ransomware como fato.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um caminho possível, uma explicação administrativa alternativa e uma evidência capaz de diferenciá-los.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Fronteira não é sinônimo de firewall. Circule mudanças de autoridade, administração, tecnologia e consequência.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 exemplo para modelar a estrutura, não para confirmar a hipótese. Depois peça outro exemplo ligado ao fluxo de engenharia.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ATT&amp;CK não é vulnerabilidade; CAPEC não é grupo adversário; STRIDE não prioriza risco. Não force equivalência entre taxonomias.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Vote primeiro. Depois peça que cada grupo declare o que o controle preserva, o que pode interromper e como testar segurança e continuidade.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Revele um cartão por vez. Pare diante de dado real, destino externo, comando ofensivo ou proposta de indisponibilidade.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Distribua o roteiro. Papéis: arquiteto, adversário autorizado, defensor e relator. Plano B integral: papel A3.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pedindo uma frase por grupo. Retome a pergunta: que operação legítima o controle pode interromper?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87F7A"/>
          </a:solidFill>
          <a:ln w="12700">
            <a:solidFill>
              <a:srgbClr val="087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669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E0D8"/>
                </a:solidFill>
              </a:rPr>
              <a:t>A03  •  FUNDAMENTOS E RISCO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Por onde o incidente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atravessa o sistema?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49808" y="2852928"/>
            <a:ext cx="6812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E6EEF5"/>
                </a:solidFill>
              </a:rPr>
              <a:t>Na A02, inventariamos ativos e relações. Agora uma conta de suporte aparece no servidor de arquivos e uma sessão parte da engenharia em direção ao ambiente OT.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49808" y="4343400"/>
            <a:ext cx="6812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7DE0D8"/>
                </a:solidFill>
              </a:rPr>
              <a:t>A missão não é confirmar ransomware: é descobrir o que precisa ser verdade para esses pontos formarem um caminho.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66760" y="1325880"/>
            <a:ext cx="2743200" cy="3246120"/>
          </a:xfrm>
          <a:prstGeom prst="roundRect">
            <a:avLst/>
          </a:prstGeom>
          <a:solidFill>
            <a:srgbClr val="071720"/>
          </a:solidFill>
          <a:ln w="25400">
            <a:solidFill>
              <a:srgbClr val="7D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32520" y="1856232"/>
            <a:ext cx="2011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TI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↓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condições?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↓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49808" y="5989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4"/>
                </a:solidFill>
              </a:rPr>
              <a:t>2 × 52 min  •  tabletop sem malware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87F7A"/>
                </a:solidFill>
              </a:rPr>
              <a:t>EVIDÊNCIA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04A"/>
                </a:solidFill>
              </a:rPr>
              <a:t>Quatro eventos, muitas explicações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E71"/>
                </a:solidFill>
              </a:rPr>
              <a:t>O log oferece pontos no tempo. O modelo deverá mostrar se existe um caminho entre eles.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1993392"/>
            <a:ext cx="6995160" cy="3310128"/>
          </a:xfrm>
          <a:prstGeom prst="roundRect">
            <a:avLst/>
          </a:prstGeom>
          <a:solidFill>
            <a:srgbClr val="0D2235"/>
          </a:solidFill>
          <a:ln w="12700">
            <a:solidFill>
              <a:srgbClr val="315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450592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08:42  VPN       svc_support  login externo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08:51  FILE-01   svc_support  autenticação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09:03  FILE-01   287 arquivos renomeados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09:07  ENG-WS-01 → OT-JUMP-01  sessão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092440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7F7A"/>
                </a:solidFill>
              </a:rPr>
              <a:t>O QUE É FATO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92440" y="24231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4A"/>
                </a:solidFill>
              </a:rPr>
              <a:t>Eventos registrados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2304A"/>
                </a:solidFill>
              </a:rPr>
              <a:t>Identidades e destinos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2304A"/>
                </a:solidFill>
              </a:rPr>
              <a:t>Ordem temporal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92440" y="3730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5D00"/>
                </a:solidFill>
              </a:rPr>
              <a:t>O QUE AINDA É HIPÓTESE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92440" y="4114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4A"/>
                </a:solidFill>
              </a:rPr>
              <a:t>Mesma causa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2304A"/>
                </a:solidFill>
              </a:rPr>
              <a:t>Acesso indevido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2304A"/>
                </a:solidFill>
              </a:rPr>
              <a:t>Impacto em OT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6473952"/>
            <a:ext cx="1101852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E71"/>
                </a:solidFill>
              </a:rPr>
              <a:t>A03  •  Segurança Digital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52160" y="6528816"/>
            <a:ext cx="5715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E71"/>
                </a:solidFill>
              </a:rPr>
              <a:t>Evidência fictícia preparada para a disciplina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87F7A"/>
                </a:solidFill>
              </a:rPr>
              <a:t>SISTEMA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04A"/>
                </a:solidFill>
              </a:rPr>
              <a:t>Reconstrua o funcionamento normal antes do abuso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E71"/>
                </a:solidFill>
              </a:rPr>
              <a:t>Sem o fluxo legítimo, qualquer seta parece ataque e qualquer bloqueio parece solução.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11480" y="2286000"/>
            <a:ext cx="1938528" cy="1005840"/>
          </a:xfrm>
          <a:prstGeom prst="roundRect">
            <a:avLst/>
          </a:prstGeom>
          <a:solidFill>
            <a:srgbClr val="0B65C2"/>
          </a:solidFill>
          <a:ln w="12700">
            <a:solidFill>
              <a:srgbClr val="0B65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58775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SUPORTE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1208" y="34564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E71"/>
                </a:solidFill>
              </a:rPr>
              <a:t>administra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50008" y="2578608"/>
            <a:ext cx="329184" cy="438912"/>
          </a:xfrm>
          <a:prstGeom prst="chevron">
            <a:avLst/>
          </a:prstGeom>
          <a:solidFill>
            <a:srgbClr val="4B5E71"/>
          </a:solidFill>
          <a:ln w="12700">
            <a:solidFill>
              <a:srgbClr val="4B5E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97480" y="2286000"/>
            <a:ext cx="1938528" cy="1005840"/>
          </a:xfrm>
          <a:prstGeom prst="roundRect">
            <a:avLst/>
          </a:prstGeom>
          <a:solidFill>
            <a:srgbClr val="087F7A"/>
          </a:solidFill>
          <a:ln w="12700">
            <a:solidFill>
              <a:srgbClr val="087F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258775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VPN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07208" y="34564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E71"/>
                </a:solidFill>
              </a:rPr>
              <a:t>autentica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36008" y="2578608"/>
            <a:ext cx="329184" cy="438912"/>
          </a:xfrm>
          <a:prstGeom prst="chevron">
            <a:avLst/>
          </a:prstGeom>
          <a:solidFill>
            <a:srgbClr val="4B5E71"/>
          </a:solidFill>
          <a:ln w="12700">
            <a:solidFill>
              <a:srgbClr val="4B5E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83480" y="2286000"/>
            <a:ext cx="1938528" cy="1005840"/>
          </a:xfrm>
          <a:prstGeom prst="roundRect">
            <a:avLst/>
          </a:prstGeom>
          <a:solidFill>
            <a:srgbClr val="B75D00"/>
          </a:solidFill>
          <a:ln w="12700">
            <a:solidFill>
              <a:srgbClr val="B75D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258775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ARQUIVOS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93208" y="34564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E71"/>
                </a:solidFill>
              </a:rPr>
              <a:t>compartilha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22008" y="2578608"/>
            <a:ext cx="329184" cy="438912"/>
          </a:xfrm>
          <a:prstGeom prst="chevron">
            <a:avLst/>
          </a:prstGeom>
          <a:solidFill>
            <a:srgbClr val="4B5E71"/>
          </a:solidFill>
          <a:ln w="12700">
            <a:solidFill>
              <a:srgbClr val="4B5E7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2286000"/>
            <a:ext cx="1938528" cy="1005840"/>
          </a:xfrm>
          <a:prstGeom prst="round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258775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ENG. WS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79208" y="34564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E71"/>
                </a:solidFill>
              </a:rPr>
              <a:t>programa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08008" y="2578608"/>
            <a:ext cx="329184" cy="438912"/>
          </a:xfrm>
          <a:prstGeom prst="chevron">
            <a:avLst/>
          </a:prstGeom>
          <a:solidFill>
            <a:srgbClr val="4B5E71"/>
          </a:solidFill>
          <a:ln w="12700">
            <a:solidFill>
              <a:srgbClr val="4B5E7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55480" y="2286000"/>
            <a:ext cx="1938528" cy="1005840"/>
          </a:xfrm>
          <a:prstGeom prst="roundRect">
            <a:avLst/>
          </a:prstGeom>
          <a:solidFill>
            <a:srgbClr val="26734D"/>
          </a:solidFill>
          <a:ln w="12700">
            <a:solidFill>
              <a:srgbClr val="267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46920" y="258775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OT JUMP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65208" y="34564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E71"/>
                </a:solidFill>
              </a:rPr>
              <a:t>intermedeia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79408" y="1874520"/>
            <a:ext cx="0" cy="2057400"/>
          </a:xfrm>
          <a:prstGeom prst="line">
            <a:avLst/>
          </a:prstGeom>
          <a:noFill/>
          <a:ln w="38100">
            <a:solidFill>
              <a:srgbClr val="B423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 rot="16200000">
            <a:off x="8247888" y="4160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2318"/>
                </a:solidFill>
              </a:rPr>
              <a:t>FRONTEIRA TI/OT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709160"/>
            <a:ext cx="10561320" cy="932688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499262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04A"/>
                </a:solidFill>
              </a:rPr>
              <a:t>Em cada ligação, pergunte: o que atravessa? quem autoriza? qual controle existe? o que muda se a confiança falhar?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48640" y="6473952"/>
            <a:ext cx="1101852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E71"/>
                </a:solidFill>
              </a:rPr>
              <a:t>A03  •  Segurança Digital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52160" y="6528816"/>
            <a:ext cx="5715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E71"/>
                </a:solidFill>
              </a:rPr>
              <a:t>NIST CSF 2.0 • MITRE CAPEC/ATT&amp;CK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87F7A"/>
                </a:solidFill>
              </a:rPr>
              <a:t>STRIDE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04A"/>
                </a:solidFill>
              </a:rPr>
              <a:t>Transforme suspeita em ameaça testável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E71"/>
                </a:solidFill>
              </a:rPr>
              <a:t>A categoria só é útil quando aponta condição, consequência e evidência no sistema desenhado.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267712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65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4884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5C2"/>
                </a:solidFill>
              </a:rPr>
              <a:t>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624328"/>
            <a:ext cx="1901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B4D"/>
                </a:solidFill>
              </a:rPr>
              <a:t>Falsificar identidade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990088" y="1965960"/>
            <a:ext cx="2267712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23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72968" y="214884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2318"/>
                </a:solidFill>
              </a:rPr>
              <a:t>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624328"/>
            <a:ext cx="1901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B4D"/>
                </a:solidFill>
              </a:rPr>
              <a:t>Adulterar dados/comandos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77256" y="1965960"/>
            <a:ext cx="2267712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75D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0136" y="214884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5D00"/>
                </a:solidFill>
              </a:rPr>
              <a:t>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0136" y="2624328"/>
            <a:ext cx="1901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B4D"/>
                </a:solidFill>
              </a:rPr>
              <a:t>Negar ação sem rastreabilidade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2920" y="3081528"/>
            <a:ext cx="2267712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87F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6440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7F7A"/>
                </a:solidFill>
              </a:rPr>
              <a:t>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739896"/>
            <a:ext cx="1901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B4D"/>
                </a:solidFill>
              </a:rPr>
              <a:t>Divulgar além do necessário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2990088" y="3081528"/>
            <a:ext cx="2267712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67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72968" y="326440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734D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739896"/>
            <a:ext cx="1901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B4D"/>
                </a:solidFill>
              </a:rPr>
              <a:t>Remover visão/controle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77256" y="3081528"/>
            <a:ext cx="2267712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230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0136" y="326440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4A"/>
                </a:solidFill>
              </a:rPr>
              <a:t>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0136" y="3739896"/>
            <a:ext cx="1901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B4D"/>
                </a:solidFill>
              </a:rPr>
              <a:t>Obter privilégio indevido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119872" y="1947672"/>
            <a:ext cx="3493008" cy="31272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65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2212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5C2"/>
                </a:solidFill>
              </a:rPr>
              <a:t>EXEMPLO NO CENÁRIO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66760" y="267004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2304A"/>
                </a:solidFill>
              </a:rPr>
              <a:t>Se alguém reutiliza a conta compartilhada svc_support para atravessar a VPN, pode agir como fornecedor e alterar arquivos sem atribuição individual.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8366760" y="4297680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E71"/>
                </a:solidFill>
              </a:rPr>
              <a:t>Validar com: origem, MFA, dono da conta e trilha de auditoria.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2303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04A"/>
                </a:solidFill>
              </a:rPr>
              <a:t>agente + condição + elemento + consequência + evidência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48640" y="6473952"/>
            <a:ext cx="1101852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E71"/>
                </a:solidFill>
              </a:rPr>
              <a:t>A03  •  Segurança Digital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52160" y="6528816"/>
            <a:ext cx="5715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E71"/>
                </a:solidFill>
              </a:rPr>
              <a:t>OWASP Threat Modeling; STRIDE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87F7A"/>
                </a:solidFill>
              </a:rPr>
              <a:t>TAXONOMIAS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04A"/>
                </a:solidFill>
              </a:rPr>
              <a:t>Amplie a pergunta sem perder o cenário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E71"/>
                </a:solidFill>
              </a:rPr>
              <a:t>Cada referência entra quando precisamos explicar uma parte diferente do caminho.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633472" cy="21762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65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4884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5C2"/>
                </a:solidFill>
              </a:rPr>
              <a:t>STRIDE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624328"/>
            <a:ext cx="22677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B4D"/>
                </a:solidFill>
              </a:rPr>
              <a:t>Gerar perguntas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72B4D"/>
                </a:solidFill>
              </a:rPr>
              <a:t>"que classe de ameaça?"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392424" y="1965960"/>
            <a:ext cx="2633472" cy="21762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75D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75304" y="214884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5D00"/>
                </a:solidFill>
              </a:rPr>
              <a:t>CAPEC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75304" y="2624328"/>
            <a:ext cx="22677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B4D"/>
                </a:solidFill>
              </a:rPr>
              <a:t>Explicar o padrão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72B4D"/>
                </a:solidFill>
              </a:rPr>
              <a:t>"quais pré-condições?"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81928" y="1965960"/>
            <a:ext cx="2633472" cy="21762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23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214884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2318"/>
                </a:solidFill>
              </a:rPr>
              <a:t>ATT&amp;CK / ICS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64808" y="2624328"/>
            <a:ext cx="22677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B4D"/>
                </a:solidFill>
              </a:rPr>
              <a:t>Buscar comportamento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72B4D"/>
                </a:solidFill>
              </a:rPr>
              <a:t>"que telemetria observar?"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171432" y="1965960"/>
            <a:ext cx="2633472" cy="21762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673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54312" y="214884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734D"/>
                </a:solidFill>
              </a:rPr>
              <a:t>KILL CHAIN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54312" y="2624328"/>
            <a:ext cx="22677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B4D"/>
                </a:solidFill>
              </a:rPr>
              <a:t>Comunicar progressão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72B4D"/>
                </a:solidFill>
              </a:rPr>
              <a:t>"onde interromper?"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31520" y="4590288"/>
            <a:ext cx="10744200" cy="932688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855464"/>
            <a:ext cx="1028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2304A"/>
                </a:solidFill>
              </a:rPr>
              <a:t>No nosso caso: STRIDE formula a ameaça → CAPEC ajuda a questionar o abuso → ATT&amp;CK orienta evidências → risco decide o tratamento.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548640" y="6473952"/>
            <a:ext cx="1101852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E71"/>
                </a:solidFill>
              </a:rPr>
              <a:t>A03  •  Segurança Digital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52160" y="6528816"/>
            <a:ext cx="5715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E71"/>
                </a:solidFill>
              </a:rPr>
              <a:t>NIST CSF 2.0 • MITRE CAPEC/ATT&amp;CK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852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E0D8"/>
                </a:solidFill>
              </a:rPr>
              <a:t>DECISÃO DE TRATAMENTO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Onde interromper sem parar a operação?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49808" y="1901952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5F0"/>
                </a:solidFill>
              </a:rPr>
              <a:t>O mesmo caminho admite controles em camadas — e cada escolha protege algo enquanto pode limitar uma operação legítima.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3401568" cy="2240280"/>
          </a:xfrm>
          <a:prstGeom prst="roundRect">
            <a:avLst/>
          </a:prstGeom>
          <a:solidFill>
            <a:srgbClr val="174C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05409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DE0D8"/>
                </a:solidFill>
              </a:rPr>
              <a:t>IDENTIDADE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3493008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MFA + conta individual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reduz personificação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⚠ pode atrasar suporte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34840" y="2788920"/>
            <a:ext cx="3401568" cy="2240280"/>
          </a:xfrm>
          <a:prstGeom prst="roundRect">
            <a:avLst/>
          </a:prstGeom>
          <a:solidFill>
            <a:srgbClr val="1263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05409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DE0D8"/>
                </a:solidFill>
              </a:rPr>
              <a:t>TRAVESSIA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90872" y="3493008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jump host + fluxo permitido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09160" y="4160520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limita movimento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⚠ exige acesso emergencial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0" y="2788920"/>
            <a:ext cx="3401568" cy="2240280"/>
          </a:xfrm>
          <a:prstGeom prst="roundRect">
            <a:avLst/>
          </a:prstGeom>
          <a:solidFill>
            <a:srgbClr val="70461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305409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DE0D8"/>
                </a:solidFill>
              </a:rPr>
              <a:t>IMPACTO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85632" y="3493008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backup + restauração testada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03920" y="4160520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reduz consequência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⚠ não impede acesso inicial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56875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6E5F0"/>
                </a:solidFill>
              </a:rPr>
              <a:t>Decida com premissa, consequência, efeito operacional e evidência de eficácia.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87F7A"/>
                </a:solidFill>
              </a:rPr>
              <a:t>TABLETOP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04A"/>
                </a:solidFill>
              </a:rPr>
              <a:t>Novas informações mudam a decisão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E71"/>
                </a:solidFill>
              </a:rPr>
              <a:t>Não executaremos malware: os cartões atualizam o modelo e obrigam o grupo a revisar evidência e risco.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401568" cy="23957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65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95728"/>
            <a:ext cx="566928" cy="475488"/>
          </a:xfrm>
          <a:prstGeom prst="rect">
            <a:avLst/>
          </a:prstGeom>
          <a:solidFill>
            <a:srgbClr val="0B65C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27048" y="2468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5C2"/>
                </a:solidFill>
              </a:rPr>
              <a:t>BACKUP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3127248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04A"/>
                </a:solidFill>
              </a:rPr>
              <a:t>Último teste de restauração é desconhecido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E71"/>
                </a:solidFill>
              </a:rPr>
              <a:t>coletar → decidir → validar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16552" y="2148840"/>
            <a:ext cx="3401568" cy="23957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75D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395728"/>
            <a:ext cx="566928" cy="475488"/>
          </a:xfrm>
          <a:prstGeom prst="rect">
            <a:avLst/>
          </a:prstGeom>
          <a:solidFill>
            <a:srgbClr val="B75D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B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349240" y="2468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5D00"/>
                </a:solidFill>
              </a:rPr>
              <a:t>IDENTIDADE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72584" y="3127248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04A"/>
                </a:solidFill>
              </a:rPr>
              <a:t>svc_support é compartilhada pelo fornecedor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36592" y="4114800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E71"/>
                </a:solidFill>
              </a:rPr>
              <a:t>coletar → decidir → validar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38744" y="2148840"/>
            <a:ext cx="3401568" cy="23957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23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67344" y="2395728"/>
            <a:ext cx="566928" cy="475488"/>
          </a:xfrm>
          <a:prstGeom prst="rect">
            <a:avLst/>
          </a:prstGeom>
          <a:solidFill>
            <a:srgbClr val="B423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171432" y="2468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2318"/>
                </a:solidFill>
              </a:rPr>
              <a:t>SESSÃO OT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94776" y="3127248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04A"/>
                </a:solidFill>
              </a:rPr>
              <a:t>Estava no calendário, mas a origem diverge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58784" y="4114800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E71"/>
                </a:solidFill>
              </a:rPr>
              <a:t>coletar → decidir → validar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5120640"/>
            <a:ext cx="10561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04A"/>
                </a:solidFill>
              </a:rPr>
              <a:t>A cada cartão: o que mudou? qual decisão é autorizada? que evidência evita dano à operação?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48640" y="6473952"/>
            <a:ext cx="1101852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E71"/>
                </a:solidFill>
              </a:rPr>
              <a:t>A03  •  Segurança Digital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52160" y="6528816"/>
            <a:ext cx="5715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E71"/>
                </a:solidFill>
              </a:rPr>
              <a:t>Cenário fictício; nenhuma ação técnica ofensiva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87F7A"/>
                </a:solidFill>
              </a:rPr>
              <a:t>PRÁTICA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04A"/>
                </a:solidFill>
              </a:rPr>
              <a:t>Do diagrama a uma recomendação defensável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E71"/>
                </a:solidFill>
              </a:rPr>
              <a:t>Os grupos usarão o inventário da A02 para reconstruir o sistema, testar hipóteses e justificar tratamento.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1938528"/>
            <a:ext cx="6903720" cy="3493008"/>
          </a:xfrm>
          <a:prstGeom prst="roundRect">
            <a:avLst/>
          </a:prstGeom>
          <a:solidFill>
            <a:srgbClr val="E7F5F3"/>
          </a:solidFill>
          <a:ln w="25400">
            <a:solidFill>
              <a:srgbClr val="087F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267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7F7A"/>
                </a:solidFill>
              </a:rPr>
              <a:t>52 MINUTOS • GRUPOS DE 3–4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761488"/>
            <a:ext cx="384048" cy="329184"/>
          </a:xfrm>
          <a:prstGeom prst="rect">
            <a:avLst/>
          </a:prstGeom>
          <a:solidFill>
            <a:srgbClr val="087F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77977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4A"/>
                </a:solidFill>
              </a:rPr>
              <a:t>Fluxo normal + fronteiras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337560"/>
            <a:ext cx="384048" cy="329184"/>
          </a:xfrm>
          <a:prstGeom prst="rect">
            <a:avLst/>
          </a:prstGeom>
          <a:solidFill>
            <a:srgbClr val="087F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335584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4A"/>
                </a:solidFill>
              </a:rPr>
              <a:t>3 ameaças + 3 caminhos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" y="3913632"/>
            <a:ext cx="384048" cy="329184"/>
          </a:xfrm>
          <a:prstGeom prst="rect">
            <a:avLst/>
          </a:prstGeom>
          <a:solidFill>
            <a:srgbClr val="087F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39319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4A"/>
                </a:solidFill>
              </a:rPr>
              <a:t>Cartões + revisão do risco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60120" y="4489704"/>
            <a:ext cx="384048" cy="329184"/>
          </a:xfrm>
          <a:prstGeom prst="rect">
            <a:avLst/>
          </a:prstGeom>
          <a:solidFill>
            <a:srgbClr val="087F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450799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4A"/>
                </a:solidFill>
              </a:rPr>
              <a:t>Tratamento + reteste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092440" y="2176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5C2"/>
                </a:solidFill>
              </a:rPr>
              <a:t>ENTREGA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92440" y="2670048"/>
            <a:ext cx="3246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4A"/>
                </a:solidFill>
              </a:rPr>
              <a:t>Diagrama legível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2304A"/>
                </a:solidFill>
              </a:rPr>
              <a:t>3 caminhos comentados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2304A"/>
                </a:solidFill>
              </a:rPr>
              <a:t>Registro de risco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2304A"/>
                </a:solidFill>
              </a:rPr>
              <a:t>Controle e evidência de validação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92440" y="480060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2318"/>
                </a:solidFill>
              </a:rPr>
              <a:t>Sem malware, varredura ou indisponibilidade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6473952"/>
            <a:ext cx="1101852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E71"/>
                </a:solidFill>
              </a:rPr>
              <a:t>A03  •  Segurança Digital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52160" y="6528816"/>
            <a:ext cx="5715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E71"/>
                </a:solidFill>
              </a:rPr>
              <a:t>NIST CSF 2.0 • MITRE CAPEC/ATT&amp;CK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87F7A"/>
                </a:solidFill>
              </a:rPr>
              <a:t>SÍNTESE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04A"/>
                </a:solidFill>
              </a:rPr>
              <a:t>Um modelo bom muda uma decisão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E71"/>
                </a:solidFill>
              </a:rPr>
              <a:t>Partimos de eventos correlacionados; terminamos com premissas explícitas, um ponto de interrupção e um teste.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47472" y="2221992"/>
            <a:ext cx="2148840" cy="1481328"/>
          </a:xfrm>
          <a:prstGeom prst="roundRect">
            <a:avLst/>
          </a:prstGeom>
          <a:solidFill>
            <a:srgbClr val="0B65C2"/>
          </a:solidFill>
          <a:ln w="12700">
            <a:solidFill>
              <a:srgbClr val="0B65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96312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EVIDÊNCIA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12064" y="2971800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que observamos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06624" y="2221992"/>
            <a:ext cx="2148840" cy="1481328"/>
          </a:xfrm>
          <a:prstGeom prst="roundRect">
            <a:avLst/>
          </a:prstGeom>
          <a:solidFill>
            <a:srgbClr val="087F7A"/>
          </a:solidFill>
          <a:ln w="12700">
            <a:solidFill>
              <a:srgbClr val="087F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2496312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CAMINHO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71216" y="2971800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que precisa ser verdade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65776" y="2221992"/>
            <a:ext cx="2148840" cy="1481328"/>
          </a:xfrm>
          <a:prstGeom prst="roundRect">
            <a:avLst/>
          </a:prstGeom>
          <a:solidFill>
            <a:srgbClr val="B75D00"/>
          </a:solidFill>
          <a:ln w="12700">
            <a:solidFill>
              <a:srgbClr val="B75D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75504" y="2496312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CONSEQUÊNCIA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30368" y="2971800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que está em risco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24928" y="2221992"/>
            <a:ext cx="2148840" cy="1481328"/>
          </a:xfrm>
          <a:prstGeom prst="round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34656" y="2496312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CONTROLE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89520" y="2971800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onde intervir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784080" y="2221992"/>
            <a:ext cx="2148840" cy="1481328"/>
          </a:xfrm>
          <a:prstGeom prst="roundRect">
            <a:avLst/>
          </a:prstGeom>
          <a:solidFill>
            <a:srgbClr val="26734D"/>
          </a:solidFill>
          <a:ln w="12700">
            <a:solidFill>
              <a:srgbClr val="267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93808" y="2496312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VALIDAÇÃO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948672" y="2971800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como provar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32688" y="4315968"/>
            <a:ext cx="102870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459028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04A"/>
                </a:solidFill>
              </a:rPr>
              <a:t>Complete: “Interrompemos o caminho em ___ com ___; a evidência de eficácia será ___ e o risco residual é ___.”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548640" y="6473952"/>
            <a:ext cx="1101852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E71"/>
                </a:solidFill>
              </a:rPr>
              <a:t>A03  •  Segurança Digital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52160" y="6528816"/>
            <a:ext cx="5715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E71"/>
                </a:solidFill>
              </a:rPr>
              <a:t>NIST CSF 2.0 • MITRE CAPEC/ATT&amp;CK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A03 — Do caminho de ataque ao modelo de ameaças</dc:title>
  <dc:subject>PptxGenJS Presentation</dc:subject>
  <dc:creator>Curso de Segurança Digital</dc:creator>
  <cp:lastModifiedBy>Curso de Segurança Digital</cp:lastModifiedBy>
  <cp:revision>1</cp:revision>
  <dcterms:created xsi:type="dcterms:W3CDTF">2026-08-06T19:49:56Z</dcterms:created>
  <dcterms:modified xsi:type="dcterms:W3CDTF">2026-08-06T19:49:56Z</dcterms:modified>
</cp:coreProperties>
</file>
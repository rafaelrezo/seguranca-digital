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Colete duas observações e uma hipótese. Não aceite ransomware como fato.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hipótese alternativa administrativa: manutenção, sincronização ou rotina autorizada.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Pergunte onde muda autoridade, administração ou consequência. Fronteira não é sinônimo de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uma ameaça completa. Corrija listas genéricas sem relação com o desenho.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ATT&amp;CK não é catálogo de vulnerabilidades; CAPEC não é inventário de adversários; STRIDE não prioriza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Aceite controles em camadas. Exija que o grupo preserve acesso emergencial e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B: papel A3 e cartões impressos. Nenhum comando ofensivo é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Distribua o roteiro. Grupos de 3–4 com papéis rotativos.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ponto de interrupção, evidência de eficácia e risco residual.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58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E0D8"/>
                </a:solidFill>
              </a:rPr>
              <a:t>A03  •  FUNDAMENTOS E RISCO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Por onde o incidente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atravessa o sistema?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49808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E6EEF5"/>
                </a:solidFill>
              </a:rPr>
              <a:t>Uma conta aparece em TI e perto da fronteira OT. O que precisa ser verdade para o caminho alcançar o processo?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366760" y="1417320"/>
            <a:ext cx="2743200" cy="2880360"/>
          </a:xfrm>
          <a:prstGeom prst="roundRect">
            <a:avLst/>
          </a:prstGeom>
          <a:solidFill>
            <a:srgbClr val="071720"/>
          </a:solidFill>
          <a:ln w="25400">
            <a:solidFill>
              <a:srgbClr val="7DE0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1847088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TI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↓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?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↓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49808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4"/>
                </a:solidFill>
              </a:rPr>
              <a:t>2 × 52 min  •  tabletop sem malware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EVIDÊNCIA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Quatro eventos, muitas explicações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Correlação orienta perguntas; não encerra a investigação.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7315200" cy="3429000"/>
          </a:xfrm>
          <a:prstGeom prst="roundRect">
            <a:avLst/>
          </a:prstGeom>
          <a:solidFill>
            <a:srgbClr val="0D2235"/>
          </a:solidFill>
          <a:ln w="12700">
            <a:solidFill>
              <a:srgbClr val="3155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487168"/>
            <a:ext cx="6583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08:42  VPN       svc_support  login externo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08:51  FILE-01   svc_support  autenticação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09:03  FILE-01   287 arquivos renomeados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09:07  ENG-WS-01 → OT-JUMP-01  sessão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5820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PREVEJA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58200" y="27432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2 observações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1 caminho possível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1 alternativa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1 evidência decisiva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Evidência fictícia preparada para a disciplina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SISTEMA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Desenhe o fluxo normal antes do abuso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Ativos, dados, direção e confiança tornam o caminho discutível.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74520" cy="1051560"/>
          </a:xfrm>
          <a:prstGeom prst="roundRect">
            <a:avLst/>
          </a:prstGeom>
          <a:solidFill>
            <a:srgbClr val="0B65C2"/>
          </a:solidFill>
          <a:ln w="127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816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SUPORTE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404872" y="2779776"/>
            <a:ext cx="320040" cy="438912"/>
          </a:xfrm>
          <a:prstGeom prst="chevron">
            <a:avLst/>
          </a:prstGeom>
          <a:solidFill>
            <a:srgbClr val="4B5E71"/>
          </a:solidFill>
          <a:ln w="12700">
            <a:solidFill>
              <a:srgbClr val="4B5E7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8920" y="2468880"/>
            <a:ext cx="1874520" cy="1051560"/>
          </a:xfrm>
          <a:prstGeom prst="round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816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VPN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90872" y="2779776"/>
            <a:ext cx="320040" cy="438912"/>
          </a:xfrm>
          <a:prstGeom prst="chevron">
            <a:avLst/>
          </a:prstGeom>
          <a:solidFill>
            <a:srgbClr val="4B5E71"/>
          </a:solidFill>
          <a:ln w="12700">
            <a:solidFill>
              <a:srgbClr val="4B5E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2468880"/>
            <a:ext cx="1874520" cy="1051560"/>
          </a:xfrm>
          <a:prstGeom prst="roundRect">
            <a:avLst/>
          </a:prstGeom>
          <a:solidFill>
            <a:srgbClr val="B75D00"/>
          </a:solidFill>
          <a:ln w="12700">
            <a:solidFill>
              <a:srgbClr val="B75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66360" y="2816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ARQUIVOS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976872" y="2779776"/>
            <a:ext cx="320040" cy="438912"/>
          </a:xfrm>
          <a:prstGeom prst="chevron">
            <a:avLst/>
          </a:prstGeom>
          <a:solidFill>
            <a:srgbClr val="4B5E71"/>
          </a:solidFill>
          <a:ln w="12700">
            <a:solidFill>
              <a:srgbClr val="4B5E7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60920" y="2468880"/>
            <a:ext cx="1874520" cy="1051560"/>
          </a:xfrm>
          <a:prstGeom prst="round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816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ENG. WS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262872" y="2779776"/>
            <a:ext cx="320040" cy="438912"/>
          </a:xfrm>
          <a:prstGeom prst="chevron">
            <a:avLst/>
          </a:prstGeom>
          <a:solidFill>
            <a:srgbClr val="4B5E71"/>
          </a:solidFill>
          <a:ln w="12700">
            <a:solidFill>
              <a:srgbClr val="4B5E7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46920" y="2468880"/>
            <a:ext cx="1874520" cy="1051560"/>
          </a:xfrm>
          <a:prstGeom prst="roundRect">
            <a:avLst/>
          </a:prstGeom>
          <a:solidFill>
            <a:srgbClr val="26734D"/>
          </a:solidFill>
          <a:ln w="12700">
            <a:solidFill>
              <a:srgbClr val="267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8360" y="28163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OT JUMP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052560" y="1920240"/>
            <a:ext cx="0" cy="2331720"/>
          </a:xfrm>
          <a:prstGeom prst="line">
            <a:avLst/>
          </a:prstGeom>
          <a:noFill/>
          <a:ln w="38100">
            <a:solidFill>
              <a:srgbClr val="B423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8302752" y="4160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</a:rPr>
              <a:t>FRONTEIRA TI/OT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5074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Rotule cada fluxo: o quê, direção, identidade e controle.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MITRE CAPEC/ATT&amp;CK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STRIDE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Seis lentes para gerar ameaças testáveis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Use somente categorias que façam sentido no elemento ou fluxo.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011680"/>
            <a:ext cx="34747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94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6700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Falsificar identidade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434840" y="2011680"/>
            <a:ext cx="34747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194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17720" y="26700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Adulterar dados/comandos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2011680"/>
            <a:ext cx="34747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8200" y="2194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58200" y="26700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Negar ação sem rastreabilidade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4360" y="3566160"/>
            <a:ext cx="34747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Divulgar além do necessário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434840" y="3566160"/>
            <a:ext cx="34747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734D"/>
                </a:solidFill>
              </a:rPr>
              <a:t>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1772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Remover visão/controle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75320" y="3566160"/>
            <a:ext cx="347472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58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Obter privilégio indevido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304A"/>
                </a:solidFill>
              </a:rPr>
              <a:t>Agente + condição + elemento + consequência + evidência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OWASP Threat Modeling; STRIDE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TAXONOMIAS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Ferramentas diferentes respondem perguntas diferentes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Não converta tudo em uma única linha do tempo.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87752" cy="2788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STRIDE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807208"/>
            <a:ext cx="22219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Que classe de ameaça devo perguntar?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02152" y="2148840"/>
            <a:ext cx="2587752" cy="2788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2331720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CAPEC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85032" y="2807208"/>
            <a:ext cx="22219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Que padrão e pré-condições explicam o abuso?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64224" y="2148840"/>
            <a:ext cx="2587752" cy="2788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47104" y="2331720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ATT&amp;CK / ICS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47104" y="2807208"/>
            <a:ext cx="22219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Que comportamento, objetivo e telemetria observar?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226296" y="2148840"/>
            <a:ext cx="2587752" cy="2788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09176" y="2331720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734D"/>
                </a:solidFill>
              </a:rPr>
              <a:t>KILL CHAIN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09176" y="2807208"/>
            <a:ext cx="22219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</a:rPr>
              <a:t>Como comunicar progressão e interrupção?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MITRE CAPEC/ATT&amp;CK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E0D8"/>
                </a:solidFill>
              </a:rPr>
              <a:t>CHECKPOINT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Onde você interromperia o caminho?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46120" cy="1828800"/>
          </a:xfrm>
          <a:prstGeom prst="roundRect">
            <a:avLst/>
          </a:prstGeom>
          <a:solidFill>
            <a:srgbClr val="174C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IDENTIDADE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MFA + conta individual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246120" cy="1828800"/>
          </a:xfrm>
          <a:prstGeom prst="roundRect">
            <a:avLst/>
          </a:prstGeom>
          <a:solidFill>
            <a:srgbClr val="1263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TRAVESSIA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3657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jump host + fluxo permitido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38160" y="2743200"/>
            <a:ext cx="3246120" cy="1828800"/>
          </a:xfrm>
          <a:prstGeom prst="roundRect">
            <a:avLst/>
          </a:prstGeom>
          <a:solidFill>
            <a:srgbClr val="704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IMPACTO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3657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backup + recuperação testada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5F0"/>
                </a:solidFill>
              </a:rPr>
              <a:t>Declare premissa, efeito operacional e evidência de eficácia.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TABLETOP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Simule decisões, não malware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Cartões alteram a informação disponível; o sistema real não é modificado.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93192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0352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DESENHAR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57784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fluxo normal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52344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89504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FORMULAR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16936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ameaças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11496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24728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48656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INJETAR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76088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evento fictício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470648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07808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DECIDIR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35240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coleta/controle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829800" y="2240280"/>
            <a:ext cx="210312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43032" y="2468880"/>
            <a:ext cx="658368" cy="502920"/>
          </a:xfrm>
          <a:prstGeom prst="rect">
            <a:avLst/>
          </a:prstGeom>
          <a:solidFill>
            <a:srgbClr val="2673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66960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94392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risco residual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MITRE CAPEC/ATT&amp;CK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Modele três caminhos e defenda um tratamento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O diagrama é evidência de raciocínio, não decoração.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903720" cy="3337560"/>
          </a:xfrm>
          <a:prstGeom prst="roundRect">
            <a:avLst/>
          </a:prstGeom>
          <a:solidFill>
            <a:srgbClr val="E7F5F3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7F7A"/>
                </a:solidFill>
              </a:rPr>
              <a:t>MISSÃO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971800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04A"/>
                </a:solidFill>
              </a:rPr>
              <a:t>Mapeie fronteiras, conduza o tabletop e registre risco, controle e reteste.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321040" y="2331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5C2"/>
                </a:solidFill>
              </a:rPr>
              <a:t>ENTREGA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21040" y="283464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Diagrama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3 caminhos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Registro de risco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</a:rPr>
              <a:t>Validação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321040" y="4800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2318"/>
                </a:solidFill>
              </a:rPr>
              <a:t>Sem malware ou indisponibilidade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MITRE CAPEC/ATT&amp;CK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SÍNTESE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Modelo bom muda uma decisão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Fronteira, caminho, consequência, controle e evidência formam um argumento.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2423160"/>
            <a:ext cx="2103120" cy="1097280"/>
          </a:xfrm>
          <a:prstGeom prst="roundRect">
            <a:avLst/>
          </a:prstGeom>
          <a:solidFill>
            <a:srgbClr val="0B65C2"/>
          </a:solidFill>
          <a:ln w="127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DESENHAR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70632" y="2423160"/>
            <a:ext cx="2103120" cy="1097280"/>
          </a:xfrm>
          <a:prstGeom prst="round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PERGUNTAR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9784" y="2423160"/>
            <a:ext cx="2103120" cy="1097280"/>
          </a:xfrm>
          <a:prstGeom prst="roundRect">
            <a:avLst/>
          </a:prstGeom>
          <a:solidFill>
            <a:srgbClr val="B75D00"/>
          </a:solidFill>
          <a:ln w="12700">
            <a:solidFill>
              <a:srgbClr val="B75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9512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ENCENAR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88936" y="2423160"/>
            <a:ext cx="2103120" cy="1097280"/>
          </a:xfrm>
          <a:prstGeom prst="round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98664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TRATAR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848088" y="2423160"/>
            <a:ext cx="2103120" cy="1097280"/>
          </a:xfrm>
          <a:prstGeom prst="roundRect">
            <a:avLst/>
          </a:prstGeom>
          <a:solidFill>
            <a:srgbClr val="26734D"/>
          </a:solidFill>
          <a:ln w="12700">
            <a:solidFill>
              <a:srgbClr val="2673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57816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VALIDAR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3891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4A"/>
                </a:solidFill>
              </a:rPr>
              <a:t>Que operação legítima seu controle pode interromper?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A03  •  Segurança Digital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52160" y="6528816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MITRE CAPEC/ATT&amp;CK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A03 — Do caminho de ataque ao modelo de ameaças</dc:title>
  <dc:subject>PptxGenJS Presentation</dc:subject>
  <dc:creator>Curso de Segurança Digital</dc:creator>
  <cp:lastModifiedBy>Curso de Segurança Digital</cp:lastModifiedBy>
  <cp:revision>1</cp:revision>
  <dcterms:created xsi:type="dcterms:W3CDTF">2026-08-06T19:35:36Z</dcterms:created>
  <dcterms:modified xsi:type="dcterms:W3CDTF">2026-08-06T19:35:36Z</dcterms:modified>
</cp:coreProperties>
</file>
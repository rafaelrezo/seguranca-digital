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Retome a disciplina de evidência da A01. Mostre a resposta por 30 segundos e não aceite vulnerabilidade ou ataque como fatos antes de discutir ativo e consequência.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alvo, dados fictícios e critério de parada. DevTools é suficiente; Burp é opcional.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 esperada: o recurso foi entregue naquela requisição. Não há prova suficiente de autoria, intenção, alcance ou causa.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um ativo que não seja equipamento. Em OT, acrescente processo físico, qualidade, ambiente e safety.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CWE é classe de fraqueza; CVE é vulnerabilidade específica publicada. Não atribuir CVE ao desafio sem fonte.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Monitorar não substitui correção. Aceite escolhas condicionadas à função do arquivo e à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Plano alternativo: use a resposta HTTP e os ativos do PDF. Não improvise contra a demonstração pública.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Distribua o PDF e troque os papéis após a evidência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com: Priorizamos o ativo..., porque..., e validaremos o controle por...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87F7A"/>
          </a:solidFill>
          <a:ln w="12700">
            <a:solidFill>
              <a:srgbClr val="087F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6583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7DE0D8"/>
                </a:solidFill>
              </a:rPr>
              <a:t>A02  •  FUNDAMENTOS E RISCO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6492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O que realmente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está exposto?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49808" y="2816352"/>
            <a:ext cx="6720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50" dirty="0">
                <a:solidFill>
                  <a:srgbClr val="E6EEF5"/>
                </a:solidFill>
              </a:rPr>
              <a:t>Na A01, aprendemos a não confundir correlação com causa. Agora o servidor entrega um arquivo interno: precisamos ligar a evidência ao ativo, à fraqueza e à consequência antes de priorizar a resposta.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749808" y="4434840"/>
            <a:ext cx="662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DE0D8"/>
                </a:solidFill>
              </a:rPr>
              <a:t>O código 200 prova entrega; ainda não explica alcance, intenção ou impacto.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75320" y="1325880"/>
            <a:ext cx="2971800" cy="2880360"/>
          </a:xfrm>
          <a:prstGeom prst="roundRect">
            <a:avLst/>
          </a:prstGeom>
          <a:solidFill>
            <a:srgbClr val="071720"/>
          </a:solidFill>
          <a:ln w="25400">
            <a:solidFill>
              <a:srgbClr val="7D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1993392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OK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749808" y="5989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4"/>
                </a:solidFill>
              </a:rPr>
              <a:t>2 × 52 min  •  investigação em duplas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MISSÃO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Transformar uma exposição em decisão verificável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Você integra a equipe que revisa a publicação da loja de testes.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3401568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423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237744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2318"/>
                </a:solidFill>
              </a:rPr>
              <a:t>RESTRIÇÃO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86968" y="2898648"/>
            <a:ext cx="299923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Somente o Juice Shop local fornecido.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389120" y="2148840"/>
            <a:ext cx="3401568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75D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0288" y="237744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5D00"/>
                </a:solidFill>
              </a:rPr>
              <a:t>INVESTIGAÇÃO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2898648"/>
            <a:ext cx="299923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Uma requisição por vez; sem enumeração.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092440" y="2148840"/>
            <a:ext cx="3401568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87F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93608" y="237744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7F7A"/>
                </a:solidFill>
              </a:rPr>
              <a:t>ENTREGA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93608" y="2898648"/>
            <a:ext cx="299923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Inventário + registro + reteste.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A02  •  Segurança Digital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0" y="6528816"/>
            <a:ext cx="5623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NIST CSF 2.0 • CWE • CVE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PREVISÃO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O que o código 200 permite afirmar?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Registre antes de conhecer a arquitetura.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6583680" cy="3246120"/>
          </a:xfrm>
          <a:prstGeom prst="roundRect">
            <a:avLst/>
          </a:prstGeom>
          <a:solidFill>
            <a:srgbClr val="0D2235"/>
          </a:solidFill>
          <a:ln w="12700">
            <a:solidFill>
              <a:srgbClr val="31556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514600"/>
            <a:ext cx="5760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/ftp/acquisitions.md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D8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D8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text/markdown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092440" y="2194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5C2"/>
                </a:solidFill>
              </a:rPr>
              <a:t>REGISTRE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92440" y="274320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304A"/>
                </a:solidFill>
              </a:rPr>
              <a:t>2 observações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2304A"/>
                </a:solidFill>
              </a:rPr>
              <a:t>1 ativo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2304A"/>
                </a:solidFill>
              </a:rPr>
              <a:t>1 hipótese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2304A"/>
                </a:solidFill>
              </a:rPr>
              <a:t>1 lacuna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A02  •  Segurança Digital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0" y="6528816"/>
            <a:ext cx="5623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Evidência fictícia preparada para a disciplina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ATIVOS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Inventário começa pela consequência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Um item sem função e proprietário conhecidos não pode ser priorizado com confiança.</a:t>
            </a:r>
            <a:endParaRPr lang="en-US" sz="1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011680"/>
          <a:ext cx="10835640" cy="3154680"/>
        </p:xfrm>
        <a:graphic>
          <a:graphicData uri="http://schemas.openxmlformats.org/drawingml/2006/table">
            <a:tbl>
              <a:tblPr/>
              <a:tblGrid>
                <a:gridCol w="3611880"/>
                <a:gridCol w="3611880"/>
                <a:gridCol w="3611880"/>
              </a:tblGrid>
              <a:tr h="6126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ATIVO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FUNÇÃO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CONSEQUÊNCIA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Catálogo/API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vender e consultar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fraude ou parada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Dados fictícios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sustentar pedidos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exposição e confiança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Container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executar a loja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ampliação ou indisponibilidade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Controlador OT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comandar processo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produção e safety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914400" y="54406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304A"/>
                </a:solidFill>
              </a:rPr>
              <a:t>ID.AM: inventariar, manter e priorizar ativos conforme missão e impacto.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A02  •  Segurança Digital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943600" y="6528816"/>
            <a:ext cx="5623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NIST Cybersecurity Framework 2.0 — ID.AM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CONCEITOS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Uma cadeia, seis perguntas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Os termos ganham precisão quando ligados à mesma evidência.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993392"/>
            <a:ext cx="3520440" cy="12984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65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2221992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5C2"/>
                </a:solidFill>
              </a:rPr>
              <a:t>ATIVO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95528" y="2743200"/>
            <a:ext cx="31181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o que tem valor?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453128" y="1993392"/>
            <a:ext cx="3520440" cy="12984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423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54296" y="2221992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2318"/>
                </a:solidFill>
              </a:rPr>
              <a:t>AMEAÇA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54296" y="2743200"/>
            <a:ext cx="31181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quem ou o que causa dano?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311896" y="1993392"/>
            <a:ext cx="3520440" cy="12984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75D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3064" y="2221992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5D00"/>
                </a:solidFill>
              </a:rPr>
              <a:t>FRAQUEZA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513064" y="2743200"/>
            <a:ext cx="31181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que condição pode originar falhas?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94360" y="3593592"/>
            <a:ext cx="3520440" cy="12984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87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" y="3822192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7F7A"/>
                </a:solidFill>
              </a:rPr>
              <a:t>VULNERABILIDADE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95528" y="4343400"/>
            <a:ext cx="31181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qual instância é explorável?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453128" y="3593592"/>
            <a:ext cx="3520440" cy="12984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67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54296" y="3822192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734D"/>
                </a:solidFill>
              </a:rPr>
              <a:t>EXPOSIÇÃO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54296" y="4343400"/>
            <a:ext cx="31181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por qual caminho é alcançável?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311896" y="3593592"/>
            <a:ext cx="3520440" cy="12984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2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13064" y="3822192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EXPLOIT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13064" y="4343400"/>
            <a:ext cx="31181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que técnica usa a falha?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A02  •  Segurança Digital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0" y="6528816"/>
            <a:ext cx="5623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CWE — glossary and FAQ; CVE Program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7DE0D8"/>
                </a:solidFill>
              </a:rPr>
              <a:t>CHECKPOINT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3258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Qual controle você defenderia?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743200"/>
            <a:ext cx="3246120" cy="1828800"/>
          </a:xfrm>
          <a:prstGeom prst="roundRect">
            <a:avLst/>
          </a:prstGeom>
          <a:solidFill>
            <a:srgbClr val="174C7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0632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REMOVER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recurso não deveria ser servido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434840" y="2743200"/>
            <a:ext cx="3246120" cy="1828800"/>
          </a:xfrm>
          <a:prstGeom prst="roundRect">
            <a:avLst/>
          </a:prstGeom>
          <a:solidFill>
            <a:srgbClr val="1263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30632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AUTORIZAR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09160" y="365760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papel específico precisa acessar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138160" y="2743200"/>
            <a:ext cx="3246120" cy="1828800"/>
          </a:xfrm>
          <a:prstGeom prst="roundRect">
            <a:avLst/>
          </a:prstGeom>
          <a:solidFill>
            <a:srgbClr val="70461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66760" y="30632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MONITORAR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12480" y="365760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correção imediata é inviável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22960" y="58064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6E5F0"/>
                </a:solidFill>
              </a:rPr>
              <a:t>Declare a premissa e a evidência de reteste.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DEMONSTRAÇÃO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Preveja antes de abrir a rota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A exploração termina em tratamento e validação.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93192" y="224028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4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6424" y="2468880"/>
            <a:ext cx="658368" cy="502920"/>
          </a:xfrm>
          <a:prstGeom prst="rect">
            <a:avLst/>
          </a:prstGeom>
          <a:solidFill>
            <a:srgbClr val="0B65C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30352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CONFIRMAR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57784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alvo e estado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52344" y="224028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4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5576" y="2468880"/>
            <a:ext cx="658368" cy="502920"/>
          </a:xfrm>
          <a:prstGeom prst="rect">
            <a:avLst/>
          </a:prstGeom>
          <a:solidFill>
            <a:srgbClr val="0B65C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889504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PREVER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916936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recurso e resposta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111496" y="224028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4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24728" y="2468880"/>
            <a:ext cx="658368" cy="502920"/>
          </a:xfrm>
          <a:prstGeom prst="rect">
            <a:avLst/>
          </a:prstGeom>
          <a:solidFill>
            <a:srgbClr val="0B65C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248656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OBSERVAR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276088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requisição única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470648" y="224028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4D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83880" y="2468880"/>
            <a:ext cx="658368" cy="502920"/>
          </a:xfrm>
          <a:prstGeom prst="rect">
            <a:avLst/>
          </a:prstGeom>
          <a:solidFill>
            <a:srgbClr val="0B65C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607808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REGISTRAR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635240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causa e impacto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829800" y="2240280"/>
            <a:ext cx="210312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673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43032" y="2468880"/>
            <a:ext cx="658368" cy="502920"/>
          </a:xfrm>
          <a:prstGeom prst="rect">
            <a:avLst/>
          </a:prstGeom>
          <a:solidFill>
            <a:srgbClr val="2673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966960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VALIDAR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994392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controle e reteste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A02  •  Segurança Digital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43600" y="6528816"/>
            <a:ext cx="5623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OWASP Juice Shop — ambiente local autorizado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PRÁTICA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Produza um ticket que outra equipe possa retestar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A flag não é o produto da atividade.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6903720" cy="3337560"/>
          </a:xfrm>
          <a:prstGeom prst="roundRect">
            <a:avLst/>
          </a:prstGeom>
          <a:solidFill>
            <a:srgbClr val="E7F5F3"/>
          </a:solidFill>
          <a:ln w="25400">
            <a:solidFill>
              <a:srgbClr val="087F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423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7F7A"/>
                </a:solidFill>
              </a:rPr>
              <a:t>MISSÃO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297180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04A"/>
                </a:solidFill>
              </a:rPr>
              <a:t>Relacione ativo, fraqueza, vetor e impacto; escolha um controle e prove como validá-lo.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8321040" y="2331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65C2"/>
                </a:solidFill>
              </a:rPr>
              <a:t>ENTREGA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321040" y="283464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04A"/>
                </a:solidFill>
              </a:rPr>
              <a:t>Inventário priorizado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2304A"/>
                </a:solidFill>
              </a:rPr>
              <a:t>Evidência interpretada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2304A"/>
                </a:solidFill>
              </a:rPr>
              <a:t>Controle justificado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2304A"/>
                </a:solidFill>
              </a:rPr>
              <a:t>Reteste definido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321040" y="4800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42318"/>
                </a:solidFill>
              </a:rPr>
              <a:t>Sem credenciais ou dados reais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A02  •  Segurança Digital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0" y="6528816"/>
            <a:ext cx="5623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NIST CSF 2.0 • CWE • CVE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SÍNTESE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Inventário orienta a prioridade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A terminologia conecta evidência, causa, consequência, ação e validação.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11480" y="2423160"/>
            <a:ext cx="2103120" cy="1097280"/>
          </a:xfrm>
          <a:prstGeom prst="roundRect">
            <a:avLst/>
          </a:prstGeom>
          <a:solidFill>
            <a:srgbClr val="0B65C2"/>
          </a:solidFill>
          <a:ln w="12700">
            <a:solidFill>
              <a:srgbClr val="0B65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1208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INVENTARIAR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770632" y="2423160"/>
            <a:ext cx="2103120" cy="1097280"/>
          </a:xfrm>
          <a:prstGeom prst="roundRect">
            <a:avLst/>
          </a:prstGeom>
          <a:solidFill>
            <a:srgbClr val="087F7A"/>
          </a:solidFill>
          <a:ln w="12700">
            <a:solidFill>
              <a:srgbClr val="087F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80360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OBSERVAR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129784" y="2423160"/>
            <a:ext cx="2103120" cy="1097280"/>
          </a:xfrm>
          <a:prstGeom prst="roundRect">
            <a:avLst/>
          </a:prstGeom>
          <a:solidFill>
            <a:srgbClr val="B75D00"/>
          </a:solidFill>
          <a:ln w="12700">
            <a:solidFill>
              <a:srgbClr val="B75D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9512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EXPLICAR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488936" y="2423160"/>
            <a:ext cx="2103120" cy="1097280"/>
          </a:xfrm>
          <a:prstGeom prst="round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98664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TRATAR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848088" y="2423160"/>
            <a:ext cx="2103120" cy="1097280"/>
          </a:xfrm>
          <a:prstGeom prst="roundRect">
            <a:avLst/>
          </a:prstGeom>
          <a:solidFill>
            <a:srgbClr val="26734D"/>
          </a:solidFill>
          <a:ln w="12700">
            <a:solidFill>
              <a:srgbClr val="2673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957816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RETESTAR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438912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4A"/>
                </a:solidFill>
              </a:rPr>
              <a:t>Transferência: qual consequência física mudaria sua prioridade em uma HMI?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A02  •  Segurança Digital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43600" y="6528816"/>
            <a:ext cx="5623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NIST CSF 2.0; CWE; CVE; OWASP Juice Shop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A02 — Ativos, ameaças e vulnerabilidades</dc:title>
  <dc:subject>PptxGenJS Presentation</dc:subject>
  <dc:creator>Curso de Segurança Digital</dc:creator>
  <cp:lastModifiedBy>Curso de Segurança Digital</cp:lastModifiedBy>
  <cp:revision>1</cp:revision>
  <dcterms:created xsi:type="dcterms:W3CDTF">2026-08-06T19:49:56Z</dcterms:created>
  <dcterms:modified xsi:type="dcterms:W3CDTF">2026-08-06T19:49:56Z</dcterms:modified>
</cp:coreProperties>
</file>
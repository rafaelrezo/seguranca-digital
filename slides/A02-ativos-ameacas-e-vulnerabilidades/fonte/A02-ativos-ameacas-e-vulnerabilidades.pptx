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Retome a disciplina de evidência da A01. Mostre a resposta por 30 segundos e não aceite vulnerabilidade ou ataque como fatos antes de discutir ativo e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alvo, dados fictícios e critério de parada. DevTools é suficiente; Burp é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esperada: o recurso foi entregue naquela requisição. Não há prova suficiente de autoria, intenção, alcance ou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um ativo que não seja equipamento. Em OT, acrescente processo físico, qualidade, ambiente e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CWE é classe de fraqueza; CVE é vulnerabilidade específica publicada. Não atribuir CVE ao desafio sem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Monitorar não substitui correção. Aceite escolhas condicionadas à função do arquivo e à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alternativo: use a resposta HTTP e os ativos do PDF. Não improvise contra a demonstração pública.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Docker ativo e URL 127.0.0.1. O PDF contém Windows/Linux, diagnóstico de porta, logs e limpeza.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com: Priorizamos o ativo..., porque..., e validaremos o controle por...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58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A02  •  FUNDAMENTOS E RISCO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que realmente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está exposto?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2816352"/>
            <a:ext cx="6720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E6EEF5"/>
                </a:solidFill>
              </a:rPr>
              <a:t>Na A01, aprendemos a não confundir correlação com causa. Agora o servidor entrega um arquivo interno: precisamos ligar a evidência ao ativo, à fraqueza e à consequência antes de priorizar a resposta.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749808" y="4434840"/>
            <a:ext cx="662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E0D8"/>
                </a:solidFill>
              </a:rPr>
              <a:t>O código 200 prova entrega; ainda não explica alcance, intenção ou impacto.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75320" y="1325880"/>
            <a:ext cx="2971800" cy="2880360"/>
          </a:xfrm>
          <a:prstGeom prst="roundRect">
            <a:avLst/>
          </a:prstGeom>
          <a:solidFill>
            <a:srgbClr val="071720"/>
          </a:solidFill>
          <a:ln w="25400">
            <a:solidFill>
              <a:srgbClr val="7D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1993392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749808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4"/>
                </a:solidFill>
              </a:rPr>
              <a:t>2 × 52 min  •  investigação em duplas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MISSÃO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Transformar uma exposição em decisão verificável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Você integra a equipe que revisa a publicação da loja de testes.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RESTRIÇÃO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696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Somente o Juice Shop local fornecido.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INVESTIGAÇÃO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Uma requisição por vez; sem enumeração.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ENTREGA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9360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Inventário + registro + reteste.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PREVISÃO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O que o código 200 permite afirmar?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Registre antes de conhecer a arquitetura.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583680" cy="3246120"/>
          </a:xfrm>
          <a:prstGeom prst="roundRect">
            <a:avLst/>
          </a:prstGeom>
          <a:solidFill>
            <a:srgbClr val="0D2235"/>
          </a:solidFill>
          <a:ln w="12700">
            <a:solidFill>
              <a:srgbClr val="3155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51460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/ftp/acquisitions.md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text/markdown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9244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REGISTRE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92440" y="27432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2 observações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ativo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hipótese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lacuna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Evidência fictícia preparada para a disciplina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ATIVOS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começa pela consequência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Um item sem função e proprietário conhecidos não pode ser priorizado com confiança.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11680"/>
          <a:ext cx="10835640" cy="3154680"/>
        </p:xfrm>
        <a:graphic>
          <a:graphicData uri="http://schemas.openxmlformats.org/drawingml/2006/table">
            <a:tbl>
              <a:tblPr/>
              <a:tblGrid>
                <a:gridCol w="3611880"/>
                <a:gridCol w="3611880"/>
                <a:gridCol w="3611880"/>
              </a:tblGrid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ATIVO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FUNÇÃO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CONSEQUÊNCIA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Catálogo/API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vender e consultar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fraude ou parada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Dados fictícios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sustentar pedidos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exposição e confiança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Container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executar a loja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ampliação ou indisponibilidade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Controlador OT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comandar processo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produção e safety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4406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ID.AM: inventariar, manter e priorizar ativos conforme missão e impacto.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Cybersecurity Framework 2.0 — ID.AM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CONCEITOS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Uma cadeia, seis perguntas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Os termos ganham precisão quando ligados à mesma evidência.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ATIVO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o que tem valor?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53128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4296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AMEAÇA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4296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quem ou o que causa dano?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311896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FRAQUEZA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condição pode originar falhas?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VULNERABILIDADE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5528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qual instância é explorável?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453128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54296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734D"/>
                </a:solidFill>
              </a:rPr>
              <a:t>EXPOSIÇÃO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54296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por qual caminho é alcançável?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311896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EXPLOIT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técnica usa a falha?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CWE — glossary and FAQ; CVE Program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CHECKPOINT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Qual controle você defenderia?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46120" cy="1828800"/>
          </a:xfrm>
          <a:prstGeom prst="roundRect">
            <a:avLst/>
          </a:prstGeom>
          <a:solidFill>
            <a:srgbClr val="174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REMOVER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recurso não deveria ser servido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246120" cy="1828800"/>
          </a:xfrm>
          <a:prstGeom prst="roundRect">
            <a:avLst/>
          </a:prstGeom>
          <a:solidFill>
            <a:srgbClr val="1263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AUTORIZAR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papel específico precisa acessar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2743200"/>
            <a:ext cx="3246120" cy="1828800"/>
          </a:xfrm>
          <a:prstGeom prst="roundRect">
            <a:avLst/>
          </a:prstGeom>
          <a:solidFill>
            <a:srgbClr val="704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MONITORAR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correção imediata é inviável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5F0"/>
                </a:solidFill>
              </a:rPr>
              <a:t>Declare a premissa e a evidência de reteste.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DEMONSTRAÇÃO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Preveja antes de abrir a rota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exploração termina em tratamento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93192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0352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CONFIRMAR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57784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alvo e estado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52344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89504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PREVER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16936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recurso e resposta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11496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24728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48656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OBSERVAR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76088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requisição única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70648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07808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REGISTRAR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35240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causa e impacto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29800" y="2240280"/>
            <a:ext cx="210312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43032" y="2468880"/>
            <a:ext cx="658368" cy="502920"/>
          </a:xfrm>
          <a:prstGeom prst="rect">
            <a:avLst/>
          </a:prstGeom>
          <a:solidFill>
            <a:srgbClr val="2673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6696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94392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controle e reteste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OWASP Juice Shop — ambiente local autorizado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Suba localmente, investigue e encerre com segurança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Cada estudante acessa seu próprio container em http://127.0.0.1:3000.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7178040" cy="3520440"/>
          </a:xfrm>
          <a:prstGeom prst="roundRect">
            <a:avLst/>
          </a:prstGeom>
          <a:solidFill>
            <a:srgbClr val="E7F5F3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2860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7F7A"/>
                </a:solidFill>
              </a:rPr>
              <a:t>PREPARAÇÃO — POWERSHELL OU TERMINAL LINUX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761488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3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pull bkimminich/juice-shop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123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-d --name juice-shop-a02 -p 127.0.0.1:3000:3000 bkimminich/juice-shop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" y="426110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5C2"/>
                </a:solidFill>
              </a:rPr>
              <a:t>ABRA  http://127.0.0.1:3000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32688" y="484632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2318"/>
                </a:solidFill>
              </a:rPr>
              <a:t>ENCERRE  docker stop juice-shop-a02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7532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ENTREGA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75320" y="2761488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2304A"/>
                </a:solidFill>
              </a:rPr>
              <a:t>Inventário do Juice Shop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12304A"/>
                </a:solidFill>
              </a:rPr>
              <a:t>Evidência interpretada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12304A"/>
                </a:solidFill>
              </a:rPr>
              <a:t>Controle justificado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12304A"/>
                </a:solidFill>
              </a:rPr>
              <a:t>Reteste definido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27532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2318"/>
                </a:solidFill>
              </a:rPr>
              <a:t>Sem credenciais ou dados reais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orienta a prioridade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terminologia conecta evidência, causa, consequência, ação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423160"/>
            <a:ext cx="2103120" cy="109728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INVENTARIAR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70632" y="2423160"/>
            <a:ext cx="2103120" cy="109728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OBSERVAR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9784" y="2423160"/>
            <a:ext cx="2103120" cy="109728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EXPLICAR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88936" y="2423160"/>
            <a:ext cx="2103120" cy="109728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98664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TRATAR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848088" y="2423160"/>
            <a:ext cx="2103120" cy="1097280"/>
          </a:xfrm>
          <a:prstGeom prst="roundRect">
            <a:avLst/>
          </a:prstGeom>
          <a:solidFill>
            <a:srgbClr val="26734D"/>
          </a:solidFill>
          <a:ln w="12700">
            <a:solidFill>
              <a:srgbClr val="267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57816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RETESTAR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89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4A"/>
                </a:solidFill>
              </a:rPr>
              <a:t>Transferência: qual consequência física mudaria sua prioridade em uma HMI?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2.0; CWE; CVE; OWASP Juice Shop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A02 — Ativos, ameaças e vulnerabilidades</dc:title>
  <dc:subject>PptxGenJS Presentation</dc:subject>
  <dc:creator>Curso de Segurança Digital</dc:creator>
  <cp:lastModifiedBy>Curso de Segurança Digital</cp:lastModifiedBy>
  <cp:revision>1</cp:revision>
  <dcterms:created xsi:type="dcterms:W3CDTF">2026-08-06T21:25:54Z</dcterms:created>
  <dcterms:modified xsi:type="dcterms:W3CDTF">2026-08-06T21:25:54Z</dcterms:modified>
</cp:coreProperties>
</file>
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a disciplina de evidência da A01. Mostre a resposta por 30 segundos e não aceite vulnerabilidade ou ataque como fatos antes de discutir ativo e consequência.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ponte direta com o slide 1: temos um 200; a competência é transformar esse fato em uma decisão defensável, sem exigir descoberta autônoma.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aqui introduza o escopo. Confirme Docker ativo. Se houver falha, use a evidência impressa; não peça que o estudante procure outro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junto com a turma. Se a versão não responder como esperado, use a captura/evidência do PDF. Não peça enumeração nem descoberta de caminhos.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as quatro linhas com a turma. Não introduza OT aqui; deixe a comparação para 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de cima para baixo. Pergunte em qual linha começamos a inferir. Depois apague verbalmente uma linha e peça à turma que a reconstrua.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a definição antes das categorias. Pergunte como cada medida altera probabilidade, consequência ou tempo de detecção.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Monitorar não substitui correção. Aceite escolhas condicionadas à função do arquivo e à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frase pausadamente e peça que a turma identifique cada trecho. Mostre que a hipótese de fraqueza não deve ser escrita como causa confirmada.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 Docker ativo e URL 127.0.0.1. O PDF contém Windows/Linux, diagnóstico de porta, logs e limpeza.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com: Priorizamos o ativo..., porque..., e validaremos o controle por...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7DE0D8"/>
                </a:solidFill>
              </a:rPr>
              <a:t>A02  •  FUNDAMENTOS E RISCO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que realmente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está exposto?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816352"/>
            <a:ext cx="6720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E6EEF5"/>
                </a:solidFill>
              </a:rPr>
              <a:t>Na A01, aprendemos a não confundir correlação com causa. Agora o servidor entrega um arquivo interno: precisamos ligar a evidência ao ativo, à fraqueza e à consequência antes de priorizar a resposta.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9808" y="4434840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E0D8"/>
                </a:solidFill>
              </a:rPr>
              <a:t>O código 200 prova entrega; ainda não explica alcance, intenção ou impacto.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75320" y="1325880"/>
            <a:ext cx="2971800" cy="2880360"/>
          </a:xfrm>
          <a:prstGeom prst="roundRect">
            <a:avLst/>
          </a:prstGeom>
          <a:solidFill>
            <a:srgbClr val="071720"/>
          </a:solidFill>
          <a:ln w="25400">
            <a:solidFill>
              <a:srgbClr val="7D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19933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9808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4"/>
                </a:solidFill>
              </a:rPr>
              <a:t>2 × 52 min  •  investigação em duplas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OBJETIVO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Aprender a explicar uma exposição observada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Não vamos procurar falhas: vamos analisar juntos uma evidência conhecida.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587752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744" y="2359152"/>
            <a:ext cx="658368" cy="502920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1821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5C2"/>
                </a:solidFill>
              </a:rPr>
              <a:t>OBSERVAR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3075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o servidor entregou o quê?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587752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1104" y="2359152"/>
            <a:ext cx="658368" cy="502920"/>
          </a:xfrm>
          <a:prstGeom prst="rect">
            <a:avLst/>
          </a:prstGeom>
          <a:solidFill>
            <a:srgbClr val="087F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31821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F7A"/>
                </a:solidFill>
              </a:rPr>
              <a:t>NOMEAR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73075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qual ativo e quais conceitos?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2587752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1464" y="2359152"/>
            <a:ext cx="658368" cy="502920"/>
          </a:xfrm>
          <a:prstGeom prst="rect">
            <a:avLst/>
          </a:prstGeom>
          <a:solidFill>
            <a:srgbClr val="B75D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1821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5D00"/>
                </a:solidFill>
              </a:rPr>
              <a:t>DECIDIR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73075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qual controle faz sentido?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0" y="2103120"/>
            <a:ext cx="2587752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21824" y="2359152"/>
            <a:ext cx="658368" cy="502920"/>
          </a:xfrm>
          <a:prstGeom prst="rect">
            <a:avLst/>
          </a:prstGeom>
          <a:solidFill>
            <a:srgbClr val="2673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26880" y="31821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734D"/>
                </a:solidFill>
              </a:rPr>
              <a:t>VALIDAR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8320" y="3730752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como provar que melhorou?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4A"/>
                </a:solidFill>
              </a:rPr>
              <a:t>Ao final, você conseguirá escrever: evidência → ativo → hipótese de fraqueza → vulnerabilidade → consequência → controle → reteste.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CWE • CVE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AMBIENTE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Cada estudante abre o Juice Shop no próprio computador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127.0.0.1 significa esta máquina; não é um servidor fornecido pelo professor.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7040880" cy="3566160"/>
          </a:xfrm>
          <a:prstGeom prst="roundRect">
            <a:avLst/>
          </a:prstGeom>
          <a:solidFill>
            <a:srgbClr val="0D2235"/>
          </a:solidFill>
          <a:ln w="12700">
            <a:solidFill>
              <a:srgbClr val="315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6355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OU TERMINAL LINUX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bkimminich/juice-shop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-d --name juice-shop-a02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127.0.0.1:3000:3000 bkimminich/juice-shop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7532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ABRA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7532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http://127.0.0.1:3000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7532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A"/>
                </a:solidFill>
              </a:rPr>
              <a:t>POR QUE LOCAL?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41605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04A"/>
                </a:solidFill>
              </a:rPr>
              <a:t>A aplicação é vulnerável de propósito. Mantê-la em 127.0.0.1 limita o acesso à própria máquina.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OWASP Juice Shop — guia oficial de execução com Docker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OBSERVAÇÃO GUIADA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Uma URL, uma requisição e limites claros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Professor e turma executam juntos; ninguém precisa descobrir uma rota.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6903720" cy="3611880"/>
          </a:xfrm>
          <a:prstGeom prst="roundRect">
            <a:avLst/>
          </a:prstGeom>
          <a:solidFill>
            <a:srgbClr val="0D2235"/>
          </a:solidFill>
          <a:ln w="12700">
            <a:solidFill>
              <a:srgbClr val="315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0280"/>
            <a:ext cx="6263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ABRA NO NAVEGADOR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http://127.0.0.1:3000/ftp/acquisitions.md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REQUISIÇÃO OBSERVADA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/ftp/acquisitions.md HTTP/1.1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127.0.0.1:3000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ESPERADA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 • text/markdown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01000" y="2103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5C2"/>
                </a:solidFill>
              </a:rPr>
              <a:t>ANTES DE EXPLICAR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1000" y="2587752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1. O que foi observado?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2. Qual informação tem valor?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3. O que ainda é hipótese?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973568" y="4251960"/>
            <a:ext cx="3383280" cy="9601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448056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4A"/>
                </a:solidFill>
              </a:rPr>
              <a:t>200 prova entrega naquela requisição — não prova causa, intenção ou alcance.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Rota validada na imagem oficial do OWASP Juice Shop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ATIVO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O que tem valor nesta evidência?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Comece pelo que perderia valor — não pela técnica nem pelo equipamento.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310128"/>
        </p:xfrm>
        <a:graphic>
          <a:graphicData uri="http://schemas.openxmlformats.org/drawingml/2006/table">
            <a:tbl>
              <a:tblPr/>
              <a:tblGrid>
                <a:gridCol w="3672840"/>
                <a:gridCol w="3672840"/>
                <a:gridCol w="3672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CANDIDATO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POR QUE PODE SER ATIVO?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EVIDÊNCIA NO CASO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informação de aquisição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apoia decisões e deveria permanecer restrita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conteúdo declara confidencialidade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arquivo acquisitions.md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armazena e transporta a informação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nome, caminho e tipo markdown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rota/serviço web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torna o recurso acessível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GET recebeu resposta 200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container Juice Shop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executa a aplicação do laboratório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D"/>
                          </a:solidFill>
                        </a:rPr>
                        <a:t>docker ps + endereço local</a:t>
                      </a:r>
                      <a:endParaRPr lang="en-US" sz="1500" dirty="0"/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60120" y="5413248"/>
            <a:ext cx="10195560" cy="5029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5559552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04A"/>
                </a:solidFill>
              </a:rPr>
              <a:t>Ativo não é sinônimo de servidor: informação, arquivo, serviço e plataforma sustentam funções diferentes.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Cybersecurity Framework 2.0 — ID.AM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EXEMPLO CONSTRUÍDO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Da evidência aos conceitos necessários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Primeiro modele a frase; depois peça que as duplas a critiquem e completem.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3911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1 • ATIVO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informação do arquivo acquisitions.md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810512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03911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734D"/>
                </a:solidFill>
              </a:rPr>
              <a:t>2 • OBSERVAÇÃO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64808" y="2560320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GET sem login recebeu 200 + markdown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9242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3 • FRAQUEZA — HIPÓTESE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913632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arquivo em área servida ou autorização ausente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3163824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39242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A"/>
                </a:solidFill>
              </a:rPr>
              <a:t>4 • VULNERABILIDADE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4808" y="3913632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esta implantação permite acesso não autenticado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517136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74573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5 • AMEAÇA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5266944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usuário não autorizado obtém a informação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4517136"/>
            <a:ext cx="5230368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74573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6 • CONSEQUÊNCIA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5266944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divulgação de planos fictícios de aquisição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CWE — classes de fraqueza; não atribuir CVE sem fonte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CONTROLE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Uma medida que modifica o risco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O controle entra depois que entendemos ativo, exposição e consequência.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33472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677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PREVENTIVO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834640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evita ou dificulta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1810512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858768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B4D"/>
                </a:solidFill>
              </a:rPr>
              <a:t>retirar o arquivo da área pública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92424" y="1965960"/>
            <a:ext cx="2633472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2677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DETECTIVO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48456" y="2834640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torna o evento observável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03904" y="3566160"/>
            <a:ext cx="1810512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3858768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B4D"/>
                </a:solidFill>
              </a:rPr>
              <a:t>registrar e alertar acesso à rota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81928" y="1965960"/>
            <a:ext cx="2633472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2677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CORRETIVO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remove a causa ou restaura condição esperada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93408" y="3566160"/>
            <a:ext cx="1810512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58768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B4D"/>
                </a:solidFill>
              </a:rPr>
              <a:t>corrigir publicação ou autorização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71432" y="1965960"/>
            <a:ext cx="2633472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2677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734D"/>
                </a:solidFill>
              </a:rPr>
              <a:t>RECUPERAÇÃO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27464" y="2834640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4A"/>
                </a:solidFill>
              </a:rPr>
              <a:t>restabelece serviço/dados após impacto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582912" y="3566160"/>
            <a:ext cx="1810512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7464" y="3858768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B4D"/>
                </a:solidFill>
              </a:rPr>
              <a:t>restaurar versão íntegra e configuração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0120" y="539496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4A"/>
                </a:solidFill>
              </a:rPr>
              <a:t>Controles podem atuar em camadas. Detectar não substitui prevenir ou corrigir quando a exposição permanece.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— Protect, Detect, Respond e Recover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7DE0D8"/>
                </a:solidFill>
              </a:rPr>
              <a:t>CHECKPOINT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Qual controle você defenderia?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46120" cy="1828800"/>
          </a:xfrm>
          <a:prstGeom prst="roundRect">
            <a:avLst/>
          </a:prstGeom>
          <a:solidFill>
            <a:srgbClr val="174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REMOVER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recurso não deveria ser servido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2743200"/>
            <a:ext cx="3246120" cy="1828800"/>
          </a:xfrm>
          <a:prstGeom prst="roundRect">
            <a:avLst/>
          </a:prstGeom>
          <a:solidFill>
            <a:srgbClr val="1263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AUTORIZAR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papel específico precisa acessar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2743200"/>
            <a:ext cx="3246120" cy="1828800"/>
          </a:xfrm>
          <a:prstGeom prst="roundRect">
            <a:avLst/>
          </a:prstGeom>
          <a:solidFill>
            <a:srgbClr val="7046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MONITORAR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correção imediata é inviável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5F0"/>
                </a:solidFill>
              </a:rPr>
              <a:t>Declare a premissa e a evidência de reteste.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REGISTRO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Uma frase profissional liga os conceitos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A dupla receberá pontos de partida e deverá justificar limites e evidências.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108356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50592"/>
            <a:ext cx="10104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Nesta implantação, uma requisição GET sem autenticação recebeu 200 e entregou o arquivo acquisitions.md. Isso expõe informação fictícia de aquisição a um usuário não autorizado. A condição provável ainda precisa ser confirmada na arquitetura.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A"/>
                </a:solidFill>
              </a:rPr>
              <a:t>A dupla deve marcar na frase: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4956048"/>
            <a:ext cx="10104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2304A"/>
                </a:solidFill>
              </a:rPr>
              <a:t>evidência observada  •  ativo  •  vulnerabilidade concreta  •  ameaça  •  consequência  •  hipótese de fraqueza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CWE • CVE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Suba localmente, investigue e encerre com segurança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Cada estudante acessa seu próprio container em http://127.0.0.1:3000.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7178040" cy="3520440"/>
          </a:xfrm>
          <a:prstGeom prst="roundRect">
            <a:avLst/>
          </a:prstGeom>
          <a:solidFill>
            <a:srgbClr val="E7F5F3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F7A"/>
                </a:solidFill>
              </a:rPr>
              <a:t>PREPARAÇÃO — POWERSHELL OU TERMINAL LINUX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bkimminich/juice-shop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2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-d --name juice-shop-a02 -p 127.0.0.1:3000:3000 bkimminich/juice-shop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4261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5C2"/>
                </a:solidFill>
              </a:rPr>
              <a:t>ABRA  http://127.0.0.1:3000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48463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ENCERRE  docker stop juice-shop-a02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753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5C2"/>
                </a:solidFill>
              </a:rPr>
              <a:t>ENTREGA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761488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Inventário do Juice Shop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Evidência interpretada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Controle justificado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12304A"/>
                </a:solidFill>
              </a:rPr>
              <a:t>Reteste definido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7532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2318"/>
                </a:solidFill>
              </a:rPr>
              <a:t>Sem credenciais ou dados reais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 • CWE • CVE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Inventário orienta a prioridade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A terminologia conecta evidência, causa, consequência, ação e validação.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2103120" cy="1097280"/>
          </a:xfrm>
          <a:prstGeom prst="roundRect">
            <a:avLst/>
          </a:prstGeom>
          <a:solidFill>
            <a:srgbClr val="0B65C2"/>
          </a:solidFill>
          <a:ln w="127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INVENTARIAR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70632" y="2423160"/>
            <a:ext cx="2103120" cy="1097280"/>
          </a:xfrm>
          <a:prstGeom prst="round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OBSERVAR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9784" y="2423160"/>
            <a:ext cx="2103120" cy="1097280"/>
          </a:xfrm>
          <a:prstGeom prst="roundRect">
            <a:avLst/>
          </a:prstGeom>
          <a:solidFill>
            <a:srgbClr val="B75D00"/>
          </a:solidFill>
          <a:ln w="12700">
            <a:solidFill>
              <a:srgbClr val="B75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EXPLICAR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88936" y="2423160"/>
            <a:ext cx="2103120" cy="109728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98664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TRATAR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848088" y="2423160"/>
            <a:ext cx="2103120" cy="1097280"/>
          </a:xfrm>
          <a:prstGeom prst="roundRect">
            <a:avLst/>
          </a:prstGeom>
          <a:solidFill>
            <a:srgbClr val="26734D"/>
          </a:solidFill>
          <a:ln w="12700">
            <a:solidFill>
              <a:srgbClr val="267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7816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RETESTAR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04A"/>
                </a:solidFill>
              </a:rPr>
              <a:t>Transferência: qual consequência física mudaria sua prioridade em uma HMI?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</a:rPr>
              <a:t>A02  •  Segurança Digital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652881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</a:rPr>
              <a:t>NIST CSF 2.0; CWE; CVE; OWASP Juice Shop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A02 — Ativos, ameaças e vulnerabilidades</dc:title>
  <dc:subject>PptxGenJS Presentation</dc:subject>
  <dc:creator>Curso de Segurança Digital</dc:creator>
  <cp:lastModifiedBy>Curso de Segurança Digital</cp:lastModifiedBy>
  <cp:revision>1</cp:revision>
  <dcterms:created xsi:type="dcterms:W3CDTF">2026-08-06T21:50:05Z</dcterms:created>
  <dcterms:modified xsi:type="dcterms:W3CDTF">2026-08-06T21:50:05Z</dcterms:modified>
</cp:coreProperties>
</file>
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evidência por 30 segundos. Peça duas observações sem interpretação. Não confirme a causa.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 duplas: uma pessoa lê evidências; outra desafia inferências. Troque os papéis no segundo bloco.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Votação argumentada. Aceite hipóteses concorrentes; cobre a evidência que as diferenciaria.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que marquem observação, inferência e lacuna com símbolos diferentes. Resposta esperada: há sequência, mas não autoria nem causalidade comprovadas.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Construa as definições a partir do log. Mostre que nem todo evento é incidente e que risco orienta decisão antes e depois do fato.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Defina accounting como rastreabilidade de ações. Diferencie security de safety com exemplos do cenário.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existe resposta universal. A boa resposta explicita estado do processo, redundância, impacto e evidência disponível.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Plano alternativo: se o laboratório falhar, use o log e a tabela de evidências do PDF. Nenhuma ação deve atingir sistemas externos.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Distribua o PDF. Confirme escopo e critério de parada antes de iniciar os 52 minutos práticos.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peça uma frase no formato 'Eu afirmo..., porque a evidência..., mas ainda falta...'.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87F7A"/>
          </a:solidFill>
          <a:ln w="12700">
            <a:solidFill>
              <a:srgbClr val="087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6583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7DE0D8"/>
                </a:solidFill>
              </a:rPr>
              <a:t>A01  •  FUNDAMENTOS E RISCO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6492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incidente que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parou a linha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49808" y="3063240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EF5"/>
                </a:solidFill>
              </a:rPr>
              <a:t>Às 09:17, produção cai a zero. A rede continua respondendo. O que você pode afirmar?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321040" y="1280160"/>
            <a:ext cx="2834640" cy="2880360"/>
          </a:xfrm>
          <a:prstGeom prst="roundRect">
            <a:avLst/>
          </a:prstGeom>
          <a:solidFill>
            <a:srgbClr val="1B4666"/>
          </a:solidFill>
          <a:ln w="25400">
            <a:solidFill>
              <a:srgbClr val="7DE0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41080" y="199339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</a:rPr>
              <a:t>09:17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</a:rPr>
              <a:t>0 un/min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749808" y="5989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4"/>
                </a:solidFill>
              </a:rPr>
              <a:t>2 × 52 min  •  investigação em duplas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MISSÃO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Separar fato, hipótese e consequência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Você integra uma equipe chamada para apoiar a sala de controle.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240280"/>
            <a:ext cx="3401568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5420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5C2"/>
                </a:solidFill>
              </a:rPr>
              <a:t>FATO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41832" y="3063240"/>
            <a:ext cx="28529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04A"/>
                </a:solidFill>
              </a:rPr>
              <a:t>A esteira parou às 09:17.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453128" y="2240280"/>
            <a:ext cx="3401568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5D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25420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5D00"/>
                </a:solidFill>
              </a:rPr>
              <a:t>RESTRIÇÃO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9160" y="3063240"/>
            <a:ext cx="28529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04A"/>
                </a:solidFill>
              </a:rPr>
              <a:t>Não interromper o controlador.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220456" y="2240280"/>
            <a:ext cx="3401568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76488" y="25420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7F7A"/>
                </a:solidFill>
              </a:rPr>
              <a:t>ENTREGA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76488" y="3063240"/>
            <a:ext cx="28529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04A"/>
                </a:solidFill>
              </a:rPr>
              <a:t>Linha do tempo + hipótese justificada.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  •  Segurança Digital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92240" y="6528816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SP 800-82 Rev. 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PREVISÃO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Qual hipótese você testaria primeiro?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Escolha antes de ver o conjunto completo de evidências.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914400" y="2148840"/>
            <a:ext cx="566928" cy="566928"/>
          </a:xfrm>
          <a:prstGeom prst="ellipse">
            <a:avLst/>
          </a:prstGeom>
          <a:solidFill>
            <a:srgbClr val="0B65C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58568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737360" y="2203704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Falha mecânica local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3154680"/>
            <a:ext cx="566928" cy="566928"/>
          </a:xfrm>
          <a:prstGeom prst="ellipse">
            <a:avLst/>
          </a:prstGeom>
          <a:solidFill>
            <a:srgbClr val="087F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264408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37360" y="3209544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Ação indevida no supervisório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914400" y="4160520"/>
            <a:ext cx="566928" cy="566928"/>
          </a:xfrm>
          <a:prstGeom prst="ellipse">
            <a:avLst/>
          </a:prstGeom>
          <a:solidFill>
            <a:srgbClr val="B75D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270248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37360" y="4215384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Perda de comunicação OT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732520" y="2194560"/>
            <a:ext cx="2514600" cy="2788920"/>
          </a:xfrm>
          <a:prstGeom prst="roundRect">
            <a:avLst/>
          </a:prstGeom>
          <a:solidFill>
            <a:srgbClr val="E7F0F8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25146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5C2"/>
                </a:solidFill>
              </a:rPr>
              <a:t>REGISTRE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006840" y="306324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1 hipótese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1 justificativa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1 evidência necessária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  •  Segurança Digital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6528816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SP 800-82 Rev.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DE0D8"/>
                </a:solidFill>
              </a:rPr>
              <a:t>EVIDÊNCIA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O que o registro mostra — e o que não mostra?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7040880" cy="3429000"/>
          </a:xfrm>
          <a:prstGeom prst="roundRect">
            <a:avLst/>
          </a:prstGeom>
          <a:solidFill>
            <a:srgbClr val="071720"/>
          </a:solidFill>
          <a:ln w="19050">
            <a:solidFill>
              <a:srgbClr val="31556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212848"/>
            <a:ext cx="6400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09:16:52  HMI-01  login_success  operador_turno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09:17:03  PLC-01  comm_timeout   3200 ms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09:17:05  LINE-01 state_change RUN → STOP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09:17:08  HMI-01  alarm_ack      ALM-204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6676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E0D8"/>
                </a:solidFill>
              </a:rPr>
              <a:t>OBSERVE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366760" y="242316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Ordem temporal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Origem do evento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Lacunas do registro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36676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D19A"/>
                </a:solidFill>
              </a:rPr>
              <a:t>Correlação não prova causa.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  •  Segurança Digital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92240" y="6528816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fictícia preparada para a disciplina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CONCEITOS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Do evento ao risco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Use os termos para explicar a evidência, não para decorar definições.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2084832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423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514600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2318"/>
                </a:solidFill>
              </a:rPr>
              <a:t>AMEAÇA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" y="312724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B4D"/>
                </a:solidFill>
              </a:rPr>
              <a:t>Condição capaz de causar dano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88920" y="2240280"/>
            <a:ext cx="2084832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65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2514600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5C2"/>
                </a:solidFill>
              </a:rPr>
              <a:t>EVENTO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62656" y="312724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B4D"/>
                </a:solidFill>
              </a:rPr>
              <a:t>Ocorrência observável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20640" y="2240280"/>
            <a:ext cx="2084832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5D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57800" y="2514600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75D00"/>
                </a:solidFill>
              </a:rPr>
              <a:t>INCIDENTE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94376" y="312724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B4D"/>
                </a:solidFill>
              </a:rPr>
              <a:t>Evento que compromete objetivos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52360" y="2240280"/>
            <a:ext cx="2084832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2514600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F7A"/>
                </a:solidFill>
              </a:rPr>
              <a:t>CONSEQUÊNCIA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26096" y="312724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B4D"/>
                </a:solidFill>
              </a:rPr>
              <a:t>Efeito sobre processo e pessoas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784080" y="2240280"/>
            <a:ext cx="2084832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2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21240" y="2514600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RISCO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57816" y="312724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B4D"/>
                </a:solidFill>
              </a:rPr>
              <a:t>Incerteza sobre probabilidade e impacto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  •  Segurança Digital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92240" y="6528816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CSF 2.0; NIST SP 800-82 Rev. 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IMPACTO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CIA e AAA mudam quando o software move o mundo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Em OT, disponibilidade e safety condicionam a resposta.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401568" cy="2606040"/>
          </a:xfrm>
          <a:prstGeom prst="roundRect">
            <a:avLst/>
          </a:prstGeom>
          <a:solidFill>
            <a:srgbClr val="F4F7FA"/>
          </a:solidFill>
          <a:ln w="254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65C2"/>
                </a:solidFill>
              </a:rPr>
              <a:t>CIA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B4D"/>
                </a:solidFill>
              </a:rPr>
              <a:t>Confidencialidade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B4D"/>
                </a:solidFill>
              </a:rPr>
              <a:t>Integridade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B4D"/>
                </a:solidFill>
              </a:rPr>
              <a:t>Disponibilidade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453128" y="2148840"/>
            <a:ext cx="3401568" cy="2606040"/>
          </a:xfrm>
          <a:prstGeom prst="roundRect">
            <a:avLst/>
          </a:prstGeom>
          <a:solidFill>
            <a:srgbClr val="F4F7FA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F7A"/>
                </a:solidFill>
              </a:rPr>
              <a:t>AAA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27448" y="306324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B4D"/>
                </a:solidFill>
              </a:rPr>
              <a:t>Autenticação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B4D"/>
                </a:solidFill>
              </a:rPr>
              <a:t>Autorização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B4D"/>
                </a:solidFill>
              </a:rPr>
              <a:t>Accounting (registro)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220456" y="2148840"/>
            <a:ext cx="3401568" cy="2606040"/>
          </a:xfrm>
          <a:prstGeom prst="roundRect">
            <a:avLst/>
          </a:prstGeom>
          <a:solidFill>
            <a:srgbClr val="FDECEA"/>
          </a:solidFill>
          <a:ln w="25400">
            <a:solidFill>
              <a:srgbClr val="B423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49056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18"/>
                </a:solidFill>
              </a:rPr>
              <a:t>PROCESSO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494776" y="306324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B4D"/>
                </a:solidFill>
              </a:rPr>
              <a:t>Qualidade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B4D"/>
                </a:solidFill>
              </a:rPr>
              <a:t>Produção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B4D"/>
                </a:solidFill>
              </a:rPr>
              <a:t>Safety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51663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2304A"/>
                </a:solidFill>
              </a:rPr>
              <a:t>Pergunta de engenharia: o controle reduz o risco sem criar uma condição insegura?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  •  Segurança Digital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6528816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SP 800-82 Rev. 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7DE0D8"/>
                </a:solidFill>
              </a:rPr>
              <a:t>CHECKPOINT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3258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Você isolaria a HMI agora?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246120" cy="1828800"/>
          </a:xfrm>
          <a:prstGeom prst="roundRect">
            <a:avLst/>
          </a:prstGeom>
          <a:solidFill>
            <a:srgbClr val="174C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SIM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reduz possível propagação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434840" y="2743200"/>
            <a:ext cx="3246120" cy="1828800"/>
          </a:xfrm>
          <a:prstGeom prst="roundRect">
            <a:avLst/>
          </a:prstGeom>
          <a:solidFill>
            <a:srgbClr val="1263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NÃO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36576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pode comprometer operação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138160" y="2743200"/>
            <a:ext cx="3246120" cy="1828800"/>
          </a:xfrm>
          <a:prstGeom prst="roundRect">
            <a:avLst/>
          </a:prstGeom>
          <a:solidFill>
            <a:srgbClr val="704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CONDICIONAL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36576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depende de evidência e estado seguro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296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5F0"/>
                </a:solidFill>
              </a:rPr>
              <a:t>Justifique com risco, continuidade e safety.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RESPOSTA INICIAL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Preservar o processo e aumentar a certeza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A primeira intervenção deve ser reversível e observável.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11480" y="2240280"/>
            <a:ext cx="210312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423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4712" y="2468880"/>
            <a:ext cx="658368" cy="502920"/>
          </a:xfrm>
          <a:prstGeom prst="rect">
            <a:avLst/>
          </a:prstGeom>
          <a:solidFill>
            <a:srgbClr val="B4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ESTABILIZAR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6072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Confirmar estado seguro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70632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83864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907792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PRESERVAR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35224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Salvar logs e horário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29784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43016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266944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CORRELACIONAR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94376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HMI, PLC e rede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488936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02168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626096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DECIDIR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653528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Conter com autorização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848088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61320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985248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VALIDAR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12680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Processo + telemetria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  •  Segurança Digital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6528816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CSF 2.0; NIST SP 800-82 Rev. 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PRÁTICA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Construa uma linha do tempo defensável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O roteiro contém o pacote de evidências, regras e critérios.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6903720" cy="3337560"/>
          </a:xfrm>
          <a:prstGeom prst="roundRect">
            <a:avLst/>
          </a:prstGeom>
          <a:solidFill>
            <a:srgbClr val="E7F5F3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7F7A"/>
                </a:solidFill>
              </a:rPr>
              <a:t>MISSÃO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97180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2304A"/>
                </a:solidFill>
              </a:rPr>
              <a:t>Ordene eventos, compare hipóteses e recomende a próxima coleta segura.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321040" y="2331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5C2"/>
                </a:solidFill>
              </a:rPr>
              <a:t>ENTREGA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321040" y="283464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</a:rPr>
              <a:t>Linha do tempo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</a:rPr>
              <a:t>Hipótese principal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</a:rPr>
              <a:t>Hipótese alternativa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</a:rPr>
              <a:t>Próxima evidência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321040" y="4800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42318"/>
                </a:solidFill>
              </a:rPr>
              <a:t>Somente dados fictícios e sanitizados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  •  Segurança Digital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6528816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SP 800-82 Rev. 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SÍNTESE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Evidência antes da certeza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Uma decisão profissional explica limites, impacto e como será validada.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11480" y="2423160"/>
            <a:ext cx="2103120" cy="1097280"/>
          </a:xfrm>
          <a:prstGeom prst="roundRect">
            <a:avLst/>
          </a:prstGeom>
          <a:solidFill>
            <a:srgbClr val="0B65C2"/>
          </a:solidFill>
          <a:ln w="127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OBSERVAR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70632" y="2423160"/>
            <a:ext cx="2103120" cy="1097280"/>
          </a:xfrm>
          <a:prstGeom prst="roundRect">
            <a:avLst/>
          </a:prstGeom>
          <a:solidFill>
            <a:srgbClr val="087F7A"/>
          </a:solidFill>
          <a:ln w="12700">
            <a:solidFill>
              <a:srgbClr val="087F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0360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FORMULAR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9784" y="2423160"/>
            <a:ext cx="2103120" cy="1097280"/>
          </a:xfrm>
          <a:prstGeom prst="roundRect">
            <a:avLst/>
          </a:prstGeom>
          <a:solidFill>
            <a:srgbClr val="B75D00"/>
          </a:solidFill>
          <a:ln w="12700">
            <a:solidFill>
              <a:srgbClr val="B75D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9512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CORRELACIONAR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88936" y="2423160"/>
            <a:ext cx="2103120" cy="1097280"/>
          </a:xfrm>
          <a:prstGeom prst="round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98664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INTERVIR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848088" y="2423160"/>
            <a:ext cx="2103120" cy="1097280"/>
          </a:xfrm>
          <a:prstGeom prst="roundRect">
            <a:avLst/>
          </a:prstGeom>
          <a:solidFill>
            <a:srgbClr val="12304A"/>
          </a:solidFill>
          <a:ln w="12700">
            <a:solidFill>
              <a:srgbClr val="12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57816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VALIDAR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43891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4A"/>
                </a:solidFill>
              </a:rPr>
              <a:t>Transferência: em um hospital ou edifício inteligente, qual consequência mudaria sua prioridade?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  •  Segurança Digital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92240" y="6528816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CSF 2.0; NIST SP 800-82 Rev. 3; NICE Framework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A01 — O incidente que parou a linha</dc:title>
  <dc:subject>PptxGenJS Presentation</dc:subject>
  <dc:creator>Curso de Segurança Digital</dc:creator>
  <cp:lastModifiedBy>Curso de Segurança Digital</cp:lastModifiedBy>
  <cp:revision>1</cp:revision>
  <dcterms:created xsi:type="dcterms:W3CDTF">2026-08-04T23:19:39Z</dcterms:created>
  <dcterms:modified xsi:type="dcterms:W3CDTF">2026-08-04T23:19:39Z</dcterms:modified>
</cp:coreProperties>
</file>
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Mostre a evidência por 30 segundos. Peça duas observações sem interpretação. Não confirme a causa.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Forme duplas: uma pessoa lê evidências; outra desafia inferências. Troque os papéis no segundo bloco.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Votação argumentada. Aceite hipóteses concorrentes; cobre a evidência que as diferenciaria.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Peça que marquem observação, inferência e lacuna com símbolos diferentes. Resposta esperada: há sequência, mas não autoria nem causalidade comprovadas.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Construa as definições a partir do log. Mostre que nem todo evento é incidente e que risco orienta decisão antes e depois do fato.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Defina accounting como rastreabilidade de ações. Diferencie security de safety com exemplos do cenário.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Não existe resposta universal. A boa resposta explicita estado do processo, redundância, impacto e evidência disponível.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Plano alternativo: se o laboratório falhar, use o log e a tabela de evidências do PDF. Nenhuma ação deve atingir sistemas externos.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Distribua o PDF. Confirme escopo e critério de parada antes de iniciar os 52 minutos práticos.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Fechamento: peça uma frase no formato 'Eu afirmo..., porque a evidência..., mas ainda falta...'.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30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87F7A"/>
          </a:solidFill>
          <a:ln w="12700">
            <a:solidFill>
              <a:srgbClr val="087F7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658368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20" kern="0" dirty="0">
                <a:solidFill>
                  <a:srgbClr val="7DE0D8"/>
                </a:solidFill>
              </a:rPr>
              <a:t>A01  •  FUNDAMENTOS E RISCO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31520" y="1325880"/>
            <a:ext cx="64922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O incidente que</a:t>
            </a:r>
            <a:endParaRPr lang="en-US" sz="4000" dirty="0"/>
          </a:p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parou a linha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749808" y="2907792"/>
            <a:ext cx="667512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E6EEF5"/>
                </a:solidFill>
              </a:rPr>
              <a:t>É o primeiro contato com o caso: às 09:17, a produção cai a zero, mas a rede continua respondendo. Antes de agir, precisamos separar o que foi observado do que apenas parece explicar a parada.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8321040" y="1280160"/>
            <a:ext cx="2834640" cy="2880360"/>
          </a:xfrm>
          <a:prstGeom prst="roundRect">
            <a:avLst/>
          </a:prstGeom>
          <a:solidFill>
            <a:srgbClr val="1B4666"/>
          </a:solidFill>
          <a:ln w="25400">
            <a:solidFill>
              <a:srgbClr val="7DE0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41080" y="1993392"/>
            <a:ext cx="2194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900" b="1" dirty="0">
                <a:solidFill>
                  <a:srgbClr val="FFFFFF"/>
                </a:solidFill>
              </a:rPr>
              <a:t>09:17</a:t>
            </a:r>
            <a:endParaRPr lang="en-US" sz="2900" dirty="0"/>
          </a:p>
          <a:p>
            <a:pPr algn="ctr" indent="0" marL="0">
              <a:buNone/>
            </a:pPr>
            <a:r>
              <a:rPr lang="en-US" sz="2900" b="1" dirty="0">
                <a:solidFill>
                  <a:srgbClr val="FFFFFF"/>
                </a:solidFill>
              </a:rPr>
              <a:t>0 un/min</a:t>
            </a:r>
            <a:endParaRPr lang="en-US" sz="2900" dirty="0"/>
          </a:p>
        </p:txBody>
      </p:sp>
      <p:sp>
        <p:nvSpPr>
          <p:cNvPr id="8" name="Text 6"/>
          <p:cNvSpPr/>
          <p:nvPr/>
        </p:nvSpPr>
        <p:spPr>
          <a:xfrm>
            <a:off x="749808" y="598932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7D6E4"/>
                </a:solidFill>
              </a:rPr>
              <a:t>2 × 52 min  •  investigação em duplas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087F7A"/>
                </a:solidFill>
              </a:rPr>
              <a:t>MISSÃO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68096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2304A"/>
                </a:solidFill>
              </a:rPr>
              <a:t>Separar fato, hipótese e consequência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58368" y="1508760"/>
            <a:ext cx="10424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4B5E71"/>
                </a:solidFill>
              </a:rPr>
              <a:t>Você integra uma equipe chamada para apoiar a sala de controle.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685800" y="2240280"/>
            <a:ext cx="3401568" cy="23317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B65C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41832" y="2542032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65C2"/>
                </a:solidFill>
              </a:rPr>
              <a:t>FATO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41832" y="3063240"/>
            <a:ext cx="28529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12304A"/>
                </a:solidFill>
              </a:rPr>
              <a:t>A esteira parou às 09:17.</a:t>
            </a:r>
            <a:endParaRPr lang="en-US" sz="2100" dirty="0"/>
          </a:p>
        </p:txBody>
      </p:sp>
      <p:sp>
        <p:nvSpPr>
          <p:cNvPr id="8" name="Shape 6"/>
          <p:cNvSpPr/>
          <p:nvPr/>
        </p:nvSpPr>
        <p:spPr>
          <a:xfrm>
            <a:off x="4453128" y="2240280"/>
            <a:ext cx="3401568" cy="23317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B75D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09160" y="2542032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75D00"/>
                </a:solidFill>
              </a:rPr>
              <a:t>RESTRIÇÃO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709160" y="3063240"/>
            <a:ext cx="28529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12304A"/>
                </a:solidFill>
              </a:rPr>
              <a:t>Não interromper o controlador.</a:t>
            </a:r>
            <a:endParaRPr lang="en-US" sz="2100" dirty="0"/>
          </a:p>
        </p:txBody>
      </p:sp>
      <p:sp>
        <p:nvSpPr>
          <p:cNvPr id="11" name="Shape 9"/>
          <p:cNvSpPr/>
          <p:nvPr/>
        </p:nvSpPr>
        <p:spPr>
          <a:xfrm>
            <a:off x="8220456" y="2240280"/>
            <a:ext cx="3401568" cy="23317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87F7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476488" y="2542032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87F7A"/>
                </a:solidFill>
              </a:rPr>
              <a:t>ENTREGA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8476488" y="3063240"/>
            <a:ext cx="28529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12304A"/>
                </a:solidFill>
              </a:rPr>
              <a:t>Linha do tempo + hipótese justificada.</a:t>
            </a:r>
            <a:endParaRPr lang="en-US" sz="2100" dirty="0"/>
          </a:p>
        </p:txBody>
      </p:sp>
      <p:sp>
        <p:nvSpPr>
          <p:cNvPr id="14" name="Shape 12"/>
          <p:cNvSpPr/>
          <p:nvPr/>
        </p:nvSpPr>
        <p:spPr>
          <a:xfrm>
            <a:off x="548640" y="6473952"/>
            <a:ext cx="11018520" cy="0"/>
          </a:xfrm>
          <a:prstGeom prst="line">
            <a:avLst/>
          </a:prstGeom>
          <a:noFill/>
          <a:ln w="12700">
            <a:solidFill>
              <a:srgbClr val="C9D4D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4360" y="6528816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E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A01  •  Segurança Digital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492240" y="6528816"/>
            <a:ext cx="5074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B5E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NIST SP 800-82 Rev. 3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087F7A"/>
                </a:solidFill>
              </a:rPr>
              <a:t>PREVISÃO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68096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2304A"/>
                </a:solidFill>
              </a:rPr>
              <a:t>Qual hipótese você testaria primeiro?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58368" y="1508760"/>
            <a:ext cx="10424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4B5E71"/>
                </a:solidFill>
              </a:rPr>
              <a:t>Escolha antes de ver o conjunto completo de evidências.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914400" y="2148840"/>
            <a:ext cx="566928" cy="566928"/>
          </a:xfrm>
          <a:prstGeom prst="ellipse">
            <a:avLst/>
          </a:prstGeom>
          <a:solidFill>
            <a:srgbClr val="0B65C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2258568"/>
            <a:ext cx="5669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A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737360" y="2203704"/>
            <a:ext cx="6766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2304A"/>
                </a:solidFill>
              </a:rPr>
              <a:t>Falha mecânica local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914400" y="3154680"/>
            <a:ext cx="566928" cy="566928"/>
          </a:xfrm>
          <a:prstGeom prst="ellipse">
            <a:avLst/>
          </a:prstGeom>
          <a:solidFill>
            <a:srgbClr val="087F7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3264408"/>
            <a:ext cx="5669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B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737360" y="3209544"/>
            <a:ext cx="6766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2304A"/>
                </a:solidFill>
              </a:rPr>
              <a:t>Ação indevida no supervisório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914400" y="4160520"/>
            <a:ext cx="566928" cy="566928"/>
          </a:xfrm>
          <a:prstGeom prst="ellipse">
            <a:avLst/>
          </a:prstGeom>
          <a:solidFill>
            <a:srgbClr val="B75D0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0" y="4270248"/>
            <a:ext cx="5669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C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1737360" y="4215384"/>
            <a:ext cx="6766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2304A"/>
                </a:solidFill>
              </a:rPr>
              <a:t>Perda de comunicação OT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8732520" y="2194560"/>
            <a:ext cx="2514600" cy="2788920"/>
          </a:xfrm>
          <a:prstGeom prst="roundRect">
            <a:avLst/>
          </a:prstGeom>
          <a:solidFill>
            <a:srgbClr val="E7F0F8"/>
          </a:solidFill>
          <a:ln w="12700">
            <a:solidFill>
              <a:srgbClr val="C9D4D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052560" y="251460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65C2"/>
                </a:solidFill>
              </a:rPr>
              <a:t>REGISTRE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9006840" y="3063240"/>
            <a:ext cx="19659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72B4D"/>
                </a:solidFill>
              </a:rPr>
              <a:t>1 hipótese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172B4D"/>
                </a:solidFill>
              </a:rPr>
              <a:t>1 justificativa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172B4D"/>
                </a:solidFill>
              </a:rPr>
              <a:t>1 evidência necessária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548640" y="6473952"/>
            <a:ext cx="11018520" cy="0"/>
          </a:xfrm>
          <a:prstGeom prst="line">
            <a:avLst/>
          </a:prstGeom>
          <a:noFill/>
          <a:ln w="12700">
            <a:solidFill>
              <a:srgbClr val="C9D4D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4360" y="6528816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E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A01  •  Segurança Digital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492240" y="6528816"/>
            <a:ext cx="5074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B5E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NIST SP 800-82 Rev. 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22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7DE0D8"/>
                </a:solidFill>
              </a:rPr>
              <a:t>EVIDÊNCIA 1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68096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O que o registro mostra — e o que não mostra?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31520" y="1737360"/>
            <a:ext cx="7040880" cy="3429000"/>
          </a:xfrm>
          <a:prstGeom prst="roundRect">
            <a:avLst/>
          </a:prstGeom>
          <a:solidFill>
            <a:srgbClr val="071720"/>
          </a:solidFill>
          <a:ln w="19050">
            <a:solidFill>
              <a:srgbClr val="31556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51560" y="2212848"/>
            <a:ext cx="64008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8F3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09:16:52  HMI-01  login_success  operador_turno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D8F3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09:17:03  PLC-01  comm_timeout   3200 ms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D8F3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09:17:05  LINE-01 state_change RUN → STOP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D8F3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09:17:08  HMI-01  alarm_ack      ALM-204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366760" y="187452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DE0D8"/>
                </a:solidFill>
              </a:rPr>
              <a:t>OBSERVE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366760" y="2423160"/>
            <a:ext cx="27432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</a:rPr>
              <a:t>Ordem temporal</a:t>
            </a:r>
            <a:endParaRPr lang="en-US" sz="2100" dirty="0"/>
          </a:p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</a:rPr>
              <a:t>Origem do evento</a:t>
            </a:r>
            <a:endParaRPr lang="en-US" sz="2100" dirty="0"/>
          </a:p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</a:rPr>
              <a:t>Lacunas do registro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8366760" y="443484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D19A"/>
                </a:solidFill>
              </a:rPr>
              <a:t>Correlação não prova causa.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8640" y="6473952"/>
            <a:ext cx="11018520" cy="0"/>
          </a:xfrm>
          <a:prstGeom prst="line">
            <a:avLst/>
          </a:prstGeom>
          <a:noFill/>
          <a:ln w="12700">
            <a:solidFill>
              <a:srgbClr val="C9D4D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6528816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E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A01  •  Segurança Digital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492240" y="6528816"/>
            <a:ext cx="5074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B5E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Evidência fictícia preparada para a disciplina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087F7A"/>
                </a:solidFill>
              </a:rPr>
              <a:t>CONCEITOS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68096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2304A"/>
                </a:solidFill>
              </a:rPr>
              <a:t>Do evento ao risco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58368" y="1508760"/>
            <a:ext cx="10424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4B5E71"/>
                </a:solidFill>
              </a:rPr>
              <a:t>Use os termos para explicar a evidência, não para decorar definições.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457200" y="2240280"/>
            <a:ext cx="2084832" cy="22860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B4231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2514600"/>
            <a:ext cx="18105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B42318"/>
                </a:solidFill>
              </a:rPr>
              <a:t>AMEAÇA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30936" y="3127248"/>
            <a:ext cx="1737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dirty="0">
                <a:solidFill>
                  <a:srgbClr val="172B4D"/>
                </a:solidFill>
              </a:rPr>
              <a:t>Condição capaz de causar dano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2788920" y="2240280"/>
            <a:ext cx="2084832" cy="22860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B65C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926080" y="2514600"/>
            <a:ext cx="18105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65C2"/>
                </a:solidFill>
              </a:rPr>
              <a:t>EVENTO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962656" y="3127248"/>
            <a:ext cx="1737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dirty="0">
                <a:solidFill>
                  <a:srgbClr val="172B4D"/>
                </a:solidFill>
              </a:rPr>
              <a:t>Ocorrência observável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5120640" y="2240280"/>
            <a:ext cx="2084832" cy="22860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B75D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257800" y="2514600"/>
            <a:ext cx="18105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B75D00"/>
                </a:solidFill>
              </a:rPr>
              <a:t>INCIDENTE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294376" y="3127248"/>
            <a:ext cx="1737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dirty="0">
                <a:solidFill>
                  <a:srgbClr val="172B4D"/>
                </a:solidFill>
              </a:rPr>
              <a:t>Evento que compromete objetivos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7452360" y="2240280"/>
            <a:ext cx="2084832" cy="22860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87F7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589520" y="2514600"/>
            <a:ext cx="18105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87F7A"/>
                </a:solidFill>
              </a:rPr>
              <a:t>CONSEQUÊNCIA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626096" y="3127248"/>
            <a:ext cx="1737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dirty="0">
                <a:solidFill>
                  <a:srgbClr val="172B4D"/>
                </a:solidFill>
              </a:rPr>
              <a:t>Efeito sobre processo e pessoas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9784080" y="2240280"/>
            <a:ext cx="2084832" cy="22860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230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921240" y="2514600"/>
            <a:ext cx="18105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2304A"/>
                </a:solidFill>
              </a:rPr>
              <a:t>RISCO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9957816" y="3127248"/>
            <a:ext cx="1737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dirty="0">
                <a:solidFill>
                  <a:srgbClr val="172B4D"/>
                </a:solidFill>
              </a:rPr>
              <a:t>Incerteza sobre probabilidade e impacto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548640" y="6473952"/>
            <a:ext cx="11018520" cy="0"/>
          </a:xfrm>
          <a:prstGeom prst="line">
            <a:avLst/>
          </a:prstGeom>
          <a:noFill/>
          <a:ln w="12700">
            <a:solidFill>
              <a:srgbClr val="C9D4D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94360" y="6528816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E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A01  •  Segurança Digital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492240" y="6528816"/>
            <a:ext cx="5074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B5E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NIST CSF 2.0; NIST SP 800-82 Rev. 3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087F7A"/>
                </a:solidFill>
              </a:rPr>
              <a:t>IMPACTO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68096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2304A"/>
                </a:solidFill>
              </a:rPr>
              <a:t>CIA e AAA mudam quando o software move o mundo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58368" y="1508760"/>
            <a:ext cx="10424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4B5E71"/>
                </a:solidFill>
              </a:rPr>
              <a:t>Em OT, disponibilidade e safety condicionam a resposta.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685800" y="2148840"/>
            <a:ext cx="3401568" cy="2606040"/>
          </a:xfrm>
          <a:prstGeom prst="roundRect">
            <a:avLst/>
          </a:prstGeom>
          <a:solidFill>
            <a:srgbClr val="F4F7FA"/>
          </a:solidFill>
          <a:ln w="25400">
            <a:solidFill>
              <a:srgbClr val="0B65C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246888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65C2"/>
                </a:solidFill>
              </a:rPr>
              <a:t>CIA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960120" y="3063240"/>
            <a:ext cx="28346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172B4D"/>
                </a:solidFill>
              </a:rPr>
              <a:t>Confidencialidade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dirty="0">
                <a:solidFill>
                  <a:srgbClr val="172B4D"/>
                </a:solidFill>
              </a:rPr>
              <a:t>Integridade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dirty="0">
                <a:solidFill>
                  <a:srgbClr val="172B4D"/>
                </a:solidFill>
              </a:rPr>
              <a:t>Disponibilidade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4453128" y="2148840"/>
            <a:ext cx="3401568" cy="2606040"/>
          </a:xfrm>
          <a:prstGeom prst="roundRect">
            <a:avLst/>
          </a:prstGeom>
          <a:solidFill>
            <a:srgbClr val="F4F7FA"/>
          </a:solidFill>
          <a:ln w="25400">
            <a:solidFill>
              <a:srgbClr val="087F7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681728" y="246888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87F7A"/>
                </a:solidFill>
              </a:rPr>
              <a:t>AAA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4727448" y="3063240"/>
            <a:ext cx="28346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172B4D"/>
                </a:solidFill>
              </a:rPr>
              <a:t>Autenticação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dirty="0">
                <a:solidFill>
                  <a:srgbClr val="172B4D"/>
                </a:solidFill>
              </a:rPr>
              <a:t>Autorização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dirty="0">
                <a:solidFill>
                  <a:srgbClr val="172B4D"/>
                </a:solidFill>
              </a:rPr>
              <a:t>Accounting (registro)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8220456" y="2148840"/>
            <a:ext cx="3401568" cy="2606040"/>
          </a:xfrm>
          <a:prstGeom prst="roundRect">
            <a:avLst/>
          </a:prstGeom>
          <a:solidFill>
            <a:srgbClr val="FDECEA"/>
          </a:solidFill>
          <a:ln w="25400">
            <a:solidFill>
              <a:srgbClr val="B4231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449056" y="246888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B42318"/>
                </a:solidFill>
              </a:rPr>
              <a:t>PROCESSO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8494776" y="3063240"/>
            <a:ext cx="28346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172B4D"/>
                </a:solidFill>
              </a:rPr>
              <a:t>Qualidade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dirty="0">
                <a:solidFill>
                  <a:srgbClr val="172B4D"/>
                </a:solidFill>
              </a:rPr>
              <a:t>Produção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dirty="0">
                <a:solidFill>
                  <a:srgbClr val="172B4D"/>
                </a:solidFill>
              </a:rPr>
              <a:t>Safety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960120" y="5166360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12304A"/>
                </a:solidFill>
              </a:rPr>
              <a:t>Pergunta de engenharia: o controle reduz o risco sem criar uma condição insegura?</a:t>
            </a:r>
            <a:endParaRPr lang="en-US" sz="2100" dirty="0"/>
          </a:p>
        </p:txBody>
      </p:sp>
      <p:sp>
        <p:nvSpPr>
          <p:cNvPr id="15" name="Shape 13"/>
          <p:cNvSpPr/>
          <p:nvPr/>
        </p:nvSpPr>
        <p:spPr>
          <a:xfrm>
            <a:off x="548640" y="6473952"/>
            <a:ext cx="11018520" cy="0"/>
          </a:xfrm>
          <a:prstGeom prst="line">
            <a:avLst/>
          </a:prstGeom>
          <a:noFill/>
          <a:ln w="12700">
            <a:solidFill>
              <a:srgbClr val="C9D4D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" y="6528816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E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A01  •  Segurança Digital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492240" y="6528816"/>
            <a:ext cx="5074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B5E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NIST SP 800-82 Rev. 3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230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640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20" kern="0" dirty="0">
                <a:solidFill>
                  <a:srgbClr val="7DE0D8"/>
                </a:solidFill>
              </a:rPr>
              <a:t>CHECKPOINT 2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31520" y="1325880"/>
            <a:ext cx="9875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</a:rPr>
              <a:t>Você isolaria a HMI agora?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731520" y="2743200"/>
            <a:ext cx="3246120" cy="1828800"/>
          </a:xfrm>
          <a:prstGeom prst="roundRect">
            <a:avLst/>
          </a:prstGeom>
          <a:solidFill>
            <a:srgbClr val="174C7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0120" y="3063240"/>
            <a:ext cx="2788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SIM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1005840" y="3657600"/>
            <a:ext cx="2697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FFFFFF"/>
                </a:solidFill>
              </a:rPr>
              <a:t>reduz possível propagação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4434840" y="2743200"/>
            <a:ext cx="3246120" cy="1828800"/>
          </a:xfrm>
          <a:prstGeom prst="roundRect">
            <a:avLst/>
          </a:prstGeom>
          <a:solidFill>
            <a:srgbClr val="12635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663440" y="3063240"/>
            <a:ext cx="2788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NÃO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4709160" y="3657600"/>
            <a:ext cx="2697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FFFFFF"/>
                </a:solidFill>
              </a:rPr>
              <a:t>pode comprometer operação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8138160" y="2743200"/>
            <a:ext cx="3246120" cy="1828800"/>
          </a:xfrm>
          <a:prstGeom prst="roundRect">
            <a:avLst/>
          </a:prstGeom>
          <a:solidFill>
            <a:srgbClr val="70461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366760" y="3063240"/>
            <a:ext cx="2788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CONDICIONAL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8412480" y="3657600"/>
            <a:ext cx="2697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FFFFFF"/>
                </a:solidFill>
              </a:rPr>
              <a:t>depende de evidência e estado seguro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822960" y="580644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D6E5F0"/>
                </a:solidFill>
              </a:rPr>
              <a:t>Justifique com risco, continuidade e safety.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087F7A"/>
                </a:solidFill>
              </a:rPr>
              <a:t>RESPOSTA INICIAL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68096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2304A"/>
                </a:solidFill>
              </a:rPr>
              <a:t>Preservar o processo e aumentar a certeza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58368" y="1508760"/>
            <a:ext cx="10424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4B5E71"/>
                </a:solidFill>
              </a:rPr>
              <a:t>A primeira intervenção deve ser reversível e observável.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411480" y="2240280"/>
            <a:ext cx="2103120" cy="23317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B4231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24712" y="2468880"/>
            <a:ext cx="658368" cy="502920"/>
          </a:xfrm>
          <a:prstGeom prst="rect">
            <a:avLst/>
          </a:prstGeom>
          <a:solidFill>
            <a:srgbClr val="B4231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48640" y="3182112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2304A"/>
                </a:solidFill>
              </a:rPr>
              <a:t>ESTABILIZAR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76072" y="3703320"/>
            <a:ext cx="17739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72B4D"/>
                </a:solidFill>
              </a:rPr>
              <a:t>Confirmar estado seguro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2770632" y="2240280"/>
            <a:ext cx="2103120" cy="2331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9D4D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83864" y="2468880"/>
            <a:ext cx="658368" cy="502920"/>
          </a:xfrm>
          <a:prstGeom prst="rect">
            <a:avLst/>
          </a:prstGeom>
          <a:solidFill>
            <a:srgbClr val="0B65C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907792" y="3182112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2304A"/>
                </a:solidFill>
              </a:rPr>
              <a:t>PRESERVAR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935224" y="3703320"/>
            <a:ext cx="17739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72B4D"/>
                </a:solidFill>
              </a:rPr>
              <a:t>Salvar logs e horário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129784" y="2240280"/>
            <a:ext cx="2103120" cy="2331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9D4D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843016" y="2468880"/>
            <a:ext cx="658368" cy="502920"/>
          </a:xfrm>
          <a:prstGeom prst="rect">
            <a:avLst/>
          </a:prstGeom>
          <a:solidFill>
            <a:srgbClr val="0B65C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3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5266944" y="3182112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2304A"/>
                </a:solidFill>
              </a:rPr>
              <a:t>CORRELACIONAR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294376" y="3703320"/>
            <a:ext cx="17739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72B4D"/>
                </a:solidFill>
              </a:rPr>
              <a:t>HMI, PLC e rede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7488936" y="2240280"/>
            <a:ext cx="2103120" cy="2331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9D4D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02168" y="2468880"/>
            <a:ext cx="658368" cy="502920"/>
          </a:xfrm>
          <a:prstGeom prst="rect">
            <a:avLst/>
          </a:prstGeom>
          <a:solidFill>
            <a:srgbClr val="0B65C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4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7626096" y="3182112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2304A"/>
                </a:solidFill>
              </a:rPr>
              <a:t>DECIDIR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7653528" y="3703320"/>
            <a:ext cx="17739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72B4D"/>
                </a:solidFill>
              </a:rPr>
              <a:t>Conter com autorização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9848088" y="2240280"/>
            <a:ext cx="2103120" cy="2331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9D4D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561320" y="2468880"/>
            <a:ext cx="658368" cy="502920"/>
          </a:xfrm>
          <a:prstGeom prst="rect">
            <a:avLst/>
          </a:prstGeom>
          <a:solidFill>
            <a:srgbClr val="0B65C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5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9985248" y="3182112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2304A"/>
                </a:solidFill>
              </a:rPr>
              <a:t>VALIDAR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0012680" y="3703320"/>
            <a:ext cx="17739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72B4D"/>
                </a:solidFill>
              </a:rPr>
              <a:t>Processo + telemetria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548640" y="6473952"/>
            <a:ext cx="11018520" cy="0"/>
          </a:xfrm>
          <a:prstGeom prst="line">
            <a:avLst/>
          </a:prstGeom>
          <a:noFill/>
          <a:ln w="12700">
            <a:solidFill>
              <a:srgbClr val="C9D4D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94360" y="6528816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E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A01  •  Segurança Digital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492240" y="6528816"/>
            <a:ext cx="5074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B5E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NIST CSF 2.0; NIST SP 800-82 Rev. 3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087F7A"/>
                </a:solidFill>
              </a:rPr>
              <a:t>PRÁTICA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68096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2304A"/>
                </a:solidFill>
              </a:rPr>
              <a:t>Construa uma linha do tempo defensável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58368" y="1508760"/>
            <a:ext cx="10424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4B5E71"/>
                </a:solidFill>
              </a:rPr>
              <a:t>O roteiro contém o pacote de evidências, regras e critérios.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731520" y="2011680"/>
            <a:ext cx="6903720" cy="3337560"/>
          </a:xfrm>
          <a:prstGeom prst="roundRect">
            <a:avLst/>
          </a:prstGeom>
          <a:solidFill>
            <a:srgbClr val="E7F5F3"/>
          </a:solidFill>
          <a:ln w="25400">
            <a:solidFill>
              <a:srgbClr val="087F7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97280" y="24231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87F7A"/>
                </a:solidFill>
              </a:rPr>
              <a:t>MISSÃO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97280" y="2971800"/>
            <a:ext cx="5760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2304A"/>
                </a:solidFill>
              </a:rPr>
              <a:t>Ordene eventos, compare hipóteses e recomende a próxima coleta segura.</a:t>
            </a:r>
            <a:endParaRPr lang="en-US" sz="2700" dirty="0"/>
          </a:p>
        </p:txBody>
      </p:sp>
      <p:sp>
        <p:nvSpPr>
          <p:cNvPr id="8" name="Text 6"/>
          <p:cNvSpPr/>
          <p:nvPr/>
        </p:nvSpPr>
        <p:spPr>
          <a:xfrm>
            <a:off x="8321040" y="23317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65C2"/>
                </a:solidFill>
              </a:rPr>
              <a:t>ENTREGA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321040" y="2834640"/>
            <a:ext cx="28346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2304A"/>
                </a:solidFill>
              </a:rPr>
              <a:t>Linha do tempo</a:t>
            </a:r>
            <a:endParaRPr lang="en-US" sz="2000" dirty="0"/>
          </a:p>
          <a:p>
            <a:pPr indent="0" marL="0">
              <a:buNone/>
            </a:pPr>
            <a:r>
              <a:rPr lang="en-US" sz="2000" b="1" dirty="0">
                <a:solidFill>
                  <a:srgbClr val="12304A"/>
                </a:solidFill>
              </a:rPr>
              <a:t>Hipótese principal</a:t>
            </a:r>
            <a:endParaRPr lang="en-US" sz="2000" dirty="0"/>
          </a:p>
          <a:p>
            <a:pPr indent="0" marL="0">
              <a:buNone/>
            </a:pPr>
            <a:r>
              <a:rPr lang="en-US" sz="2000" b="1" dirty="0">
                <a:solidFill>
                  <a:srgbClr val="12304A"/>
                </a:solidFill>
              </a:rPr>
              <a:t>Hipótese alternativa</a:t>
            </a:r>
            <a:endParaRPr lang="en-US" sz="2000" dirty="0"/>
          </a:p>
          <a:p>
            <a:pPr indent="0" marL="0">
              <a:buNone/>
            </a:pPr>
            <a:r>
              <a:rPr lang="en-US" sz="2000" b="1" dirty="0">
                <a:solidFill>
                  <a:srgbClr val="12304A"/>
                </a:solidFill>
              </a:rPr>
              <a:t>Próxima evidência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8321040" y="480060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42318"/>
                </a:solidFill>
              </a:rPr>
              <a:t>Somente dados fictícios e sanitizados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48640" y="6473952"/>
            <a:ext cx="11018520" cy="0"/>
          </a:xfrm>
          <a:prstGeom prst="line">
            <a:avLst/>
          </a:prstGeom>
          <a:noFill/>
          <a:ln w="12700">
            <a:solidFill>
              <a:srgbClr val="C9D4D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6528816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E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A01  •  Segurança Digital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492240" y="6528816"/>
            <a:ext cx="5074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B5E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NIST SP 800-82 Rev. 3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087F7A"/>
                </a:solidFill>
              </a:rPr>
              <a:t>SÍNTESE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68096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2304A"/>
                </a:solidFill>
              </a:rPr>
              <a:t>Evidência antes da certeza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58368" y="1508760"/>
            <a:ext cx="10424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4B5E71"/>
                </a:solidFill>
              </a:rPr>
              <a:t>Uma decisão profissional explica limites, impacto e como será validada.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411480" y="2423160"/>
            <a:ext cx="2103120" cy="1097280"/>
          </a:xfrm>
          <a:prstGeom prst="roundRect">
            <a:avLst/>
          </a:prstGeom>
          <a:solidFill>
            <a:srgbClr val="0B65C2"/>
          </a:solidFill>
          <a:ln w="12700">
            <a:solidFill>
              <a:srgbClr val="0B65C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21208" y="2770632"/>
            <a:ext cx="18836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OBSERVAR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2770632" y="2423160"/>
            <a:ext cx="2103120" cy="1097280"/>
          </a:xfrm>
          <a:prstGeom prst="roundRect">
            <a:avLst/>
          </a:prstGeom>
          <a:solidFill>
            <a:srgbClr val="087F7A"/>
          </a:solidFill>
          <a:ln w="12700">
            <a:solidFill>
              <a:srgbClr val="087F7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880360" y="2770632"/>
            <a:ext cx="18836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FORMULAR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129784" y="2423160"/>
            <a:ext cx="2103120" cy="1097280"/>
          </a:xfrm>
          <a:prstGeom prst="roundRect">
            <a:avLst/>
          </a:prstGeom>
          <a:solidFill>
            <a:srgbClr val="B75D00"/>
          </a:solidFill>
          <a:ln w="12700">
            <a:solidFill>
              <a:srgbClr val="B75D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239512" y="2770632"/>
            <a:ext cx="18836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CORRELACIONAR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7488936" y="2423160"/>
            <a:ext cx="2103120" cy="1097280"/>
          </a:xfrm>
          <a:prstGeom prst="roundRect">
            <a:avLst/>
          </a:prstGeom>
          <a:solidFill>
            <a:srgbClr val="B42318"/>
          </a:solidFill>
          <a:ln w="12700">
            <a:solidFill>
              <a:srgbClr val="B4231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598664" y="2770632"/>
            <a:ext cx="18836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INTERVIR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9848088" y="2423160"/>
            <a:ext cx="2103120" cy="1097280"/>
          </a:xfrm>
          <a:prstGeom prst="roundRect">
            <a:avLst/>
          </a:prstGeom>
          <a:solidFill>
            <a:srgbClr val="12304A"/>
          </a:solidFill>
          <a:ln w="12700">
            <a:solidFill>
              <a:srgbClr val="1230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957816" y="2770632"/>
            <a:ext cx="18836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VALIDAR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960120" y="438912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2304A"/>
                </a:solidFill>
              </a:rPr>
              <a:t>Transferência: em um hospital ou edifício inteligente, qual consequência mudaria sua prioridade?</a:t>
            </a:r>
            <a:endParaRPr lang="en-US" sz="2400" dirty="0"/>
          </a:p>
        </p:txBody>
      </p:sp>
      <p:sp>
        <p:nvSpPr>
          <p:cNvPr id="16" name="Shape 14"/>
          <p:cNvSpPr/>
          <p:nvPr/>
        </p:nvSpPr>
        <p:spPr>
          <a:xfrm>
            <a:off x="548640" y="6473952"/>
            <a:ext cx="11018520" cy="0"/>
          </a:xfrm>
          <a:prstGeom prst="line">
            <a:avLst/>
          </a:prstGeom>
          <a:noFill/>
          <a:ln w="12700">
            <a:solidFill>
              <a:srgbClr val="C9D4D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4360" y="6528816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E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A01  •  Segurança Digital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492240" y="6528816"/>
            <a:ext cx="5074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B5E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NIST CSF 2.0; NIST SP 800-82 Rev. 3; NICE Framework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A01 — O incidente que parou a linha</dc:title>
  <dc:subject>PptxGenJS Presentation</dc:subject>
  <dc:creator>Curso de Segurança Digital</dc:creator>
  <cp:lastModifiedBy>Curso de Segurança Digital</cp:lastModifiedBy>
  <cp:revision>1</cp:revision>
  <dcterms:created xsi:type="dcterms:W3CDTF">2026-08-06T19:49:56Z</dcterms:created>
  <dcterms:modified xsi:type="dcterms:W3CDTF">2026-08-06T19:49:56Z</dcterms:modified>
</cp:coreProperties>
</file>